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CA4873-0030-4D5F-A56B-4AC482C165DA}" v="936" dt="2026-09-22T21:06:03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31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1964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9925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126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665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741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20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6066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8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3462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043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4124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תוכן עם תמונה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7707766" y="749808"/>
            <a:ext cx="4163674" cy="2039112"/>
          </a:xfrm>
        </p:spPr>
        <p:txBody>
          <a:bodyPr vert="horz" lIns="91440" tIns="45720" rIns="91440" bIns="45720" rtlCol="1" anchor="t">
            <a:normAutofit/>
          </a:bodyPr>
          <a:lstStyle>
            <a:lvl1pPr algn="r" rtl="1">
              <a:defRPr lang="en-US" sz="7200" dirty="0"/>
            </a:lvl1pPr>
          </a:lstStyle>
          <a:p>
            <a:pPr lvl="0" rtl="1"/>
            <a:r>
              <a:rPr lang="he"/>
              <a:t>לחץ כדי לערוך סגנון כותרת של תבנית בסיס</a:t>
            </a:r>
            <a:endParaRPr lang="en-US" dirty="0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H="1">
            <a:off x="9122172" y="210312"/>
            <a:ext cx="2752056" cy="411480"/>
          </a:xfrm>
        </p:spPr>
        <p:txBody>
          <a:bodyPr rtlCol="1"/>
          <a:lstStyle>
            <a:lvl1pPr rtl="1">
              <a:defRPr/>
            </a:lvl1pPr>
          </a:lstStyle>
          <a:p>
            <a:r>
              <a:rPr lang="he"/>
              <a:t>טקסט כותרת תחתונה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8060214" y="210312"/>
            <a:ext cx="1058111" cy="411480"/>
          </a:xfrm>
        </p:spPr>
        <p:txBody>
          <a:bodyPr rtlCol="1"/>
          <a:lstStyle>
            <a:lvl1pPr rtl="1">
              <a:defRPr/>
            </a:lvl1pPr>
          </a:lstStyle>
          <a:p>
            <a:r>
              <a:rPr lang="en-US"/>
              <a:t>11/7/2025</a:t>
            </a:r>
            <a:endParaRPr lang="en-US" dirty="0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7696488" y="210312"/>
            <a:ext cx="440969" cy="413360"/>
          </a:xfrm>
        </p:spPr>
        <p:txBody>
          <a:bodyPr rtlCol="1"/>
          <a:lstStyle>
            <a:lvl1pPr rtl="1">
              <a:defRPr/>
            </a:lvl1pPr>
          </a:lstStyle>
          <a:p>
            <a:fld id="{753D0FD4-819D-4187-8797-C35567B41C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 flipH="1">
            <a:off x="7707765" y="2944368"/>
            <a:ext cx="4163674" cy="3582267"/>
          </a:xfrm>
        </p:spPr>
        <p:txBody>
          <a:bodyPr rtlCol="1"/>
          <a:lstStyle>
            <a:lvl1pPr rtl="1">
              <a:defRPr/>
            </a:lvl1pPr>
            <a:lvl2pPr rtl="1">
              <a:defRPr/>
            </a:lvl2pPr>
            <a:lvl3pPr rtl="1">
              <a:defRPr/>
            </a:lvl3pPr>
            <a:lvl4pPr rtl="1">
              <a:defRPr/>
            </a:lvl4pPr>
            <a:lvl5pPr rtl="1">
              <a:defRPr/>
            </a:lvl5pPr>
          </a:lstStyle>
          <a:p>
            <a:pPr lvl="0" rtl="1"/>
            <a:r>
              <a:rPr lang="he"/>
              <a:t>לחץ כדי לערוך סגנונות טקסט של תבנית בסיס</a:t>
            </a:r>
          </a:p>
          <a:p>
            <a:pPr lvl="1" rtl="1"/>
            <a:r>
              <a:rPr lang="he"/>
              <a:t>רמה שניה</a:t>
            </a:r>
          </a:p>
          <a:p>
            <a:pPr lvl="2" rtl="1"/>
            <a:r>
              <a:rPr lang="he"/>
              <a:t>רמה שלישית</a:t>
            </a:r>
          </a:p>
          <a:p>
            <a:pPr lvl="3" rtl="1"/>
            <a:r>
              <a:rPr lang="he"/>
              <a:t>רמה רביעית</a:t>
            </a:r>
          </a:p>
          <a:p>
            <a:pPr lvl="4" rtl="1"/>
            <a:r>
              <a:rPr lang="he"/>
              <a:t>רמה חמישית</a:t>
            </a:r>
            <a:endParaRPr lang="en-US" dirty="0"/>
          </a:p>
        </p:txBody>
      </p:sp>
      <p:sp>
        <p:nvSpPr>
          <p:cNvPr id="10" name="מציין מיקום של תמונה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1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rtlCol="1"/>
          <a:lstStyle>
            <a:lvl1pPr marL="0" indent="0" algn="r" rtl="1">
              <a:buNone/>
              <a:defRPr/>
            </a:lvl1pPr>
          </a:lstStyle>
          <a:p>
            <a:pPr rtl="1"/>
            <a:r>
              <a:rPr lang="he"/>
              <a:t> </a:t>
            </a:r>
          </a:p>
        </p:txBody>
      </p: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>
            <a:cxnSpLocks/>
          </p:cNvCxnSpPr>
          <p:nvPr/>
        </p:nvCxnSpPr>
        <p:spPr>
          <a:xfrm flipH="1">
            <a:off x="728319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70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FBA6C2-223D-49D5-8CD2-1757D9EC7028}" type="datetimeFigureOut">
              <a:rPr lang="he-IL" smtClean="0"/>
              <a:t>י"א/תשרי/תשפ"ז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9E282D-D310-42D8-B8FF-78ED45A44D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589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3AABE3-CF13-EF01-0B1B-0FFD4A52D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585846" y="333366"/>
            <a:ext cx="4601854" cy="1508666"/>
          </a:xfrm>
          <a:solidFill>
            <a:srgbClr val="EBF7FF"/>
          </a:solidFill>
        </p:spPr>
        <p:txBody>
          <a:bodyPr rtlCol="1">
            <a:noAutofit/>
          </a:bodyPr>
          <a:lstStyle/>
          <a:p>
            <a:pPr algn="ctr"/>
            <a:r>
              <a:rPr lang="he" sz="5400" b="1" dirty="0" err="1">
                <a:latin typeface="Arial"/>
                <a:ea typeface="+mj-lt"/>
                <a:cs typeface="Arial"/>
              </a:rPr>
              <a:t>פרוייקט</a:t>
            </a:r>
            <a:r>
              <a:rPr lang="he" sz="5400" b="1">
                <a:latin typeface="Arial"/>
                <a:ea typeface="+mj-lt"/>
                <a:cs typeface="Arial"/>
              </a:rPr>
              <a:t> ניתוח</a:t>
            </a:r>
            <a:br>
              <a:rPr lang="he" sz="5400" b="1" dirty="0">
                <a:latin typeface="Arial"/>
                <a:ea typeface="+mj-lt"/>
                <a:cs typeface="Arial"/>
              </a:rPr>
            </a:br>
            <a:r>
              <a:rPr lang="he" sz="5400" b="1">
                <a:latin typeface="Arial"/>
                <a:ea typeface="+mj-lt"/>
                <a:cs typeface="Arial"/>
              </a:rPr>
              <a:t> נתונים בנקאיים</a:t>
            </a:r>
            <a:endParaRPr lang="he-IL" sz="5400" b="1">
              <a:latin typeface="Arial"/>
              <a:cs typeface="Arial"/>
            </a:endParaRPr>
          </a:p>
        </p:txBody>
      </p:sp>
      <p:sp>
        <p:nvSpPr>
          <p:cNvPr id="6" name="מציין מיקום של תאריך 5">
            <a:extLst>
              <a:ext uri="{FF2B5EF4-FFF2-40B4-BE49-F238E27FC236}">
                <a16:creationId xmlns:a16="http://schemas.microsoft.com/office/drawing/2014/main" id="{08EE93FA-EC82-1659-82F6-4D594664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1"/>
          <a:lstStyle/>
          <a:p>
            <a:r>
              <a:rPr lang="en-US"/>
              <a:t>11/7/2025</a:t>
            </a:r>
            <a:endParaRPr lang="en-US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A81B3BF-4639-E991-A959-A7BFF6529F5A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7585845" y="1925414"/>
            <a:ext cx="4427834" cy="4344267"/>
          </a:xfrm>
        </p:spPr>
        <p:txBody>
          <a:bodyPr vert="horz" lIns="91440" tIns="45720" rIns="91440" bIns="45720" rtlCol="1" anchor="t">
            <a:normAutofit/>
          </a:bodyPr>
          <a:lstStyle/>
          <a:p>
            <a:pPr marL="0" indent="0">
              <a:buNone/>
            </a:pPr>
            <a:r>
              <a:rPr lang="he" sz="2000" dirty="0">
                <a:ea typeface="+mn-lt"/>
                <a:cs typeface="+mn-lt"/>
              </a:rPr>
              <a:t>פרויקט </a:t>
            </a:r>
            <a:r>
              <a:rPr lang="he" sz="2000" dirty="0" err="1">
                <a:ea typeface="+mn-lt"/>
                <a:cs typeface="+mn-lt"/>
              </a:rPr>
              <a:t>Data</a:t>
            </a:r>
            <a:r>
              <a:rPr lang="he" sz="2000" dirty="0">
                <a:ea typeface="+mn-lt"/>
                <a:cs typeface="+mn-lt"/>
              </a:rPr>
              <a:t> </a:t>
            </a:r>
            <a:r>
              <a:rPr lang="he" sz="2000" dirty="0" err="1">
                <a:ea typeface="+mn-lt"/>
                <a:cs typeface="+mn-lt"/>
              </a:rPr>
              <a:t>Analysis</a:t>
            </a:r>
            <a:r>
              <a:rPr lang="he" sz="2000" dirty="0">
                <a:ea typeface="+mn-lt"/>
                <a:cs typeface="+mn-lt"/>
              </a:rPr>
              <a:t> SQL, </a:t>
            </a:r>
            <a:r>
              <a:rPr lang="he" sz="2000" dirty="0" err="1">
                <a:ea typeface="+mn-lt"/>
                <a:cs typeface="+mn-lt"/>
              </a:rPr>
              <a:t>Excel</a:t>
            </a:r>
            <a:r>
              <a:rPr lang="he" sz="2000" dirty="0">
                <a:ea typeface="+mn-lt"/>
                <a:cs typeface="+mn-lt"/>
              </a:rPr>
              <a:t>, </a:t>
            </a:r>
            <a:r>
              <a:rPr lang="he" sz="2000" dirty="0" err="1">
                <a:ea typeface="+mn-lt"/>
                <a:cs typeface="+mn-lt"/>
              </a:rPr>
              <a:t>Power</a:t>
            </a:r>
            <a:r>
              <a:rPr lang="he" sz="2000" dirty="0">
                <a:ea typeface="+mn-lt"/>
                <a:cs typeface="+mn-lt"/>
              </a:rPr>
              <a:t> BI ו-</a:t>
            </a:r>
            <a:r>
              <a:rPr lang="he" sz="2000" dirty="0" err="1">
                <a:ea typeface="+mn-lt"/>
                <a:cs typeface="+mn-lt"/>
              </a:rPr>
              <a:t>Python</a:t>
            </a:r>
            <a:r>
              <a:rPr lang="he" sz="2000" dirty="0">
                <a:ea typeface="+mn-lt"/>
                <a:cs typeface="+mn-lt"/>
              </a:rPr>
              <a:t>.</a:t>
            </a:r>
            <a:endParaRPr lang="he-IL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he" sz="1600" dirty="0">
                <a:latin typeface="Trade Gothic Next Light"/>
                <a:ea typeface="+mn-lt"/>
                <a:cs typeface="Arial"/>
              </a:rPr>
              <a:t>פרויקט זה מנתח נתונים בנקאיים הכוללים הלוואות, פרטי לקוחות, חשבונות וכרטיסי אשראי. השתמשנו ב-SQL לשליפת נתונים, </a:t>
            </a:r>
            <a:r>
              <a:rPr lang="he" sz="1600" dirty="0" err="1">
                <a:latin typeface="Trade Gothic Next Light"/>
                <a:ea typeface="+mn-lt"/>
                <a:cs typeface="Arial"/>
              </a:rPr>
              <a:t>Excel</a:t>
            </a:r>
            <a:r>
              <a:rPr lang="he" sz="1600" dirty="0">
                <a:latin typeface="Trade Gothic Next Light"/>
                <a:ea typeface="+mn-lt"/>
                <a:cs typeface="Arial"/>
              </a:rPr>
              <a:t> לניתוח וויזואליזציה, </a:t>
            </a:r>
            <a:r>
              <a:rPr lang="he" sz="1600" dirty="0" err="1">
                <a:latin typeface="Trade Gothic Next Light"/>
                <a:ea typeface="+mn-lt"/>
                <a:cs typeface="Arial"/>
              </a:rPr>
              <a:t>Power</a:t>
            </a:r>
            <a:r>
              <a:rPr lang="he" sz="1600" dirty="0">
                <a:latin typeface="Trade Gothic Next Light"/>
                <a:ea typeface="+mn-lt"/>
                <a:cs typeface="Arial"/>
              </a:rPr>
              <a:t> BI </a:t>
            </a:r>
            <a:r>
              <a:rPr lang="he" sz="1600" dirty="0" err="1">
                <a:latin typeface="Trade Gothic Next Light"/>
                <a:ea typeface="+mn-lt"/>
                <a:cs typeface="Arial"/>
              </a:rPr>
              <a:t>לדשבורד</a:t>
            </a:r>
            <a:r>
              <a:rPr lang="he" sz="1600" dirty="0">
                <a:latin typeface="Trade Gothic Next Light"/>
                <a:ea typeface="+mn-lt"/>
                <a:cs typeface="Arial"/>
              </a:rPr>
              <a:t> אינטראקטיבי, ו-</a:t>
            </a:r>
            <a:r>
              <a:rPr lang="he" sz="1600" dirty="0" err="1">
                <a:latin typeface="Trade Gothic Next Light"/>
                <a:ea typeface="+mn-lt"/>
                <a:cs typeface="Arial"/>
              </a:rPr>
              <a:t>Python</a:t>
            </a:r>
            <a:r>
              <a:rPr lang="he" sz="1600" dirty="0">
                <a:latin typeface="Trade Gothic Next Light"/>
                <a:ea typeface="+mn-lt"/>
                <a:cs typeface="Arial"/>
              </a:rPr>
              <a:t> למודל </a:t>
            </a:r>
            <a:r>
              <a:rPr lang="he" sz="1600" dirty="0" err="1">
                <a:latin typeface="Trade Gothic Next Light"/>
                <a:ea typeface="+mn-lt"/>
                <a:cs typeface="Arial"/>
              </a:rPr>
              <a:t>Machine</a:t>
            </a:r>
            <a:r>
              <a:rPr lang="he" sz="1600" dirty="0">
                <a:latin typeface="Trade Gothic Next Light"/>
                <a:ea typeface="+mn-lt"/>
                <a:cs typeface="Arial"/>
              </a:rPr>
              <a:t> </a:t>
            </a:r>
            <a:r>
              <a:rPr lang="he" sz="1600" dirty="0" err="1">
                <a:latin typeface="Trade Gothic Next Light"/>
                <a:ea typeface="+mn-lt"/>
                <a:cs typeface="Arial"/>
              </a:rPr>
              <a:t>Learning</a:t>
            </a:r>
            <a:r>
              <a:rPr lang="he" sz="1600" dirty="0">
                <a:latin typeface="Trade Gothic Next Light"/>
                <a:ea typeface="+mn-lt"/>
                <a:cs typeface="Arial"/>
              </a:rPr>
              <a:t> לחיזוי איחורים בתשלומים.</a:t>
            </a:r>
          </a:p>
          <a:p>
            <a:pPr marL="0" indent="0">
              <a:buNone/>
            </a:pPr>
            <a:endParaRPr lang="he" sz="1600" dirty="0">
              <a:latin typeface="Trade Gothic Next Light"/>
              <a:cs typeface="Arial"/>
            </a:endParaRPr>
          </a:p>
          <a:p>
            <a:pPr marL="0" indent="0">
              <a:buNone/>
            </a:pPr>
            <a:r>
              <a:rPr lang="he" sz="1600" dirty="0">
                <a:ea typeface="+mn-lt"/>
                <a:cs typeface="+mn-lt"/>
              </a:rPr>
              <a:t>אלנה סלומון | 2026</a:t>
            </a:r>
            <a:endParaRPr lang="he" dirty="0"/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462AC93C-7BE3-A4D8-A2BE-6FFBEA2492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" t="-56" b="-47"/>
          <a:stretch>
            <a:fillRect/>
          </a:stretch>
        </p:blipFill>
        <p:spPr>
          <a:xfrm>
            <a:off x="-673" y="-8201"/>
            <a:ext cx="7322774" cy="686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15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72318B-67B7-D0B0-8866-E881F8DB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81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he-IL" sz="6600" dirty="0">
                <a:ea typeface="+mj-lt"/>
                <a:cs typeface="+mj-lt"/>
              </a:rPr>
              <a:t>מבוא</a:t>
            </a:r>
            <a:endParaRPr lang="he-IL" sz="6600">
              <a:cs typeface="Times New Roman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D89F309-24F6-BA05-5C39-98143A610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4253"/>
            <a:ext cx="10515600" cy="496271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1" anchor="ctr">
            <a:normAutofit/>
          </a:bodyPr>
          <a:lstStyle/>
          <a:p>
            <a:pPr>
              <a:buNone/>
            </a:pPr>
            <a:r>
              <a:rPr lang="he-IL" sz="4000" dirty="0">
                <a:ea typeface="+mn-lt"/>
                <a:cs typeface="+mn-lt"/>
              </a:rPr>
              <a:t>פרויקט זה נועד לנתח נתונים בנקאיים מקיפים 8 טבלאות עם כ-170,000 רשומות כדי להבין את התנהגות הלקוחות, ההלוואות והתשלומים.</a:t>
            </a:r>
            <a:endParaRPr lang="he-IL" sz="4000" dirty="0">
              <a:cs typeface="Arial"/>
            </a:endParaRPr>
          </a:p>
          <a:p>
            <a:pPr>
              <a:buNone/>
            </a:pPr>
            <a:endParaRPr lang="he-IL" sz="4000" dirty="0">
              <a:cs typeface="Arial"/>
            </a:endParaRPr>
          </a:p>
          <a:p>
            <a:pPr marL="0" indent="0">
              <a:buNone/>
            </a:pPr>
            <a:r>
              <a:rPr lang="he-IL" sz="4000" dirty="0">
                <a:ea typeface="+mn-lt"/>
                <a:cs typeface="+mn-lt"/>
              </a:rPr>
              <a:t>המטרה המרכזית: לזהות לקוחות שעלולים לאחר בתשלומים לפני שזה קורה כדי למנוע הפסדים כספיים לבנק.</a:t>
            </a:r>
            <a:endParaRPr lang="he-IL" sz="4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067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021876-1631-FD62-878A-CBFED3F17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8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 sz="7200" dirty="0" err="1">
                <a:latin typeface="Arial"/>
                <a:cs typeface="Arial"/>
              </a:rPr>
              <a:t>הדאטהסט</a:t>
            </a:r>
            <a:endParaRPr lang="he-IL" sz="7200" dirty="0">
              <a:latin typeface="Arial"/>
              <a:cs typeface="Arial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01AEBB3-0900-6E3D-F891-C6CC07A2F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579"/>
            <a:ext cx="10515600" cy="4856384"/>
          </a:xfrm>
        </p:spPr>
        <p:txBody>
          <a:bodyPr vert="horz" lIns="91440" tIns="45720" rIns="91440" bIns="45720" rtlCol="1" anchor="t">
            <a:normAutofit/>
          </a:bodyPr>
          <a:lstStyle/>
          <a:p>
            <a:pPr marL="0" indent="0" algn="ctr">
              <a:buNone/>
            </a:pPr>
            <a:r>
              <a:rPr lang="he-IL" sz="3200" b="1" i="1" u="sng" dirty="0">
                <a:cs typeface="Arial"/>
              </a:rPr>
              <a:t>8 טבלאות בנקאיות:</a:t>
            </a:r>
            <a:endParaRPr lang="he-IL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e-IL" sz="2400" b="1" i="1" u="sng" dirty="0">
                <a:cs typeface="Arial"/>
              </a:rPr>
              <a:t> </a:t>
            </a:r>
            <a:r>
              <a:rPr lang="he-IL" sz="2400" b="1" dirty="0" err="1">
                <a:ea typeface="+mn-lt"/>
                <a:cs typeface="+mn-lt"/>
              </a:rPr>
              <a:t>customers</a:t>
            </a:r>
            <a:r>
              <a:rPr lang="he-IL" sz="2400" dirty="0">
                <a:ea typeface="+mn-lt"/>
                <a:cs typeface="+mn-lt"/>
              </a:rPr>
              <a:t> 20,000 לקוחות</a:t>
            </a:r>
            <a:endParaRPr lang="he-IL" sz="240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e-IL" sz="2400" b="1" dirty="0" err="1">
                <a:ea typeface="+mn-lt"/>
                <a:cs typeface="+mn-lt"/>
              </a:rPr>
              <a:t>accounts</a:t>
            </a:r>
            <a:r>
              <a:rPr lang="he-IL" sz="2400" dirty="0">
                <a:ea typeface="+mn-lt"/>
                <a:cs typeface="+mn-lt"/>
              </a:rPr>
              <a:t> 20,000 חשבונות</a:t>
            </a:r>
            <a:endParaRPr lang="he-IL" sz="2400">
              <a:cs typeface="Arial"/>
            </a:endParaRPr>
          </a:p>
          <a:p>
            <a:pPr marL="0" indent="0">
              <a:buNone/>
            </a:pPr>
            <a:r>
              <a:rPr lang="he-IL" sz="2400" b="1" dirty="0" err="1">
                <a:ea typeface="+mn-lt"/>
                <a:cs typeface="+mn-lt"/>
              </a:rPr>
              <a:t>cards</a:t>
            </a:r>
            <a:r>
              <a:rPr lang="he-IL" sz="2400" dirty="0">
                <a:ea typeface="+mn-lt"/>
                <a:cs typeface="+mn-lt"/>
              </a:rPr>
              <a:t> 20,000 כרטיסים</a:t>
            </a:r>
            <a:endParaRPr lang="he-IL" sz="2400">
              <a:cs typeface="Arial"/>
            </a:endParaRPr>
          </a:p>
          <a:p>
            <a:pPr marL="0" indent="0">
              <a:buNone/>
            </a:pPr>
            <a:r>
              <a:rPr lang="he-IL" sz="2400" b="1" dirty="0" err="1">
                <a:ea typeface="+mn-lt"/>
                <a:cs typeface="+mn-lt"/>
              </a:rPr>
              <a:t>loans</a:t>
            </a:r>
            <a:r>
              <a:rPr lang="he-IL" sz="2400" dirty="0">
                <a:ea typeface="+mn-lt"/>
                <a:cs typeface="+mn-lt"/>
              </a:rPr>
              <a:t> 20,000 הלוואות</a:t>
            </a:r>
            <a:endParaRPr lang="he-IL" sz="2400">
              <a:cs typeface="Arial"/>
            </a:endParaRPr>
          </a:p>
          <a:p>
            <a:pPr marL="0" indent="0">
              <a:buNone/>
            </a:pPr>
            <a:r>
              <a:rPr lang="he-IL" sz="2400" b="1" err="1">
                <a:ea typeface="+mn-lt"/>
                <a:cs typeface="+mn-lt"/>
              </a:rPr>
              <a:t>loan_payments</a:t>
            </a:r>
            <a:r>
              <a:rPr lang="he-IL" sz="2400" dirty="0">
                <a:ea typeface="+mn-lt"/>
                <a:cs typeface="+mn-lt"/>
              </a:rPr>
              <a:t> 50,000 תשלומי הלוואה</a:t>
            </a:r>
            <a:endParaRPr lang="he-IL" sz="2400">
              <a:cs typeface="Arial"/>
            </a:endParaRPr>
          </a:p>
          <a:p>
            <a:pPr marL="0" indent="0">
              <a:buNone/>
            </a:pPr>
            <a:r>
              <a:rPr lang="he-IL" sz="2400" b="1" err="1">
                <a:ea typeface="+mn-lt"/>
                <a:cs typeface="+mn-lt"/>
              </a:rPr>
              <a:t>branches</a:t>
            </a:r>
            <a:r>
              <a:rPr lang="he-IL" sz="2400" dirty="0">
                <a:ea typeface="+mn-lt"/>
                <a:cs typeface="+mn-lt"/>
              </a:rPr>
              <a:t> 150 סניפים</a:t>
            </a:r>
            <a:endParaRPr lang="he-IL" sz="2400">
              <a:cs typeface="Arial"/>
            </a:endParaRPr>
          </a:p>
          <a:p>
            <a:pPr marL="0" indent="0">
              <a:buNone/>
            </a:pPr>
            <a:r>
              <a:rPr lang="he-IL" sz="2400" b="1" err="1">
                <a:ea typeface="+mn-lt"/>
                <a:cs typeface="+mn-lt"/>
              </a:rPr>
              <a:t>employees</a:t>
            </a:r>
            <a:r>
              <a:rPr lang="he-IL" sz="2400" dirty="0">
                <a:ea typeface="+mn-lt"/>
                <a:cs typeface="+mn-lt"/>
              </a:rPr>
              <a:t> 1,800 עובדים</a:t>
            </a:r>
            <a:endParaRPr lang="he-IL" sz="2400">
              <a:cs typeface="Arial"/>
            </a:endParaRPr>
          </a:p>
          <a:p>
            <a:pPr marL="0" indent="0">
              <a:buNone/>
            </a:pPr>
            <a:r>
              <a:rPr lang="he-IL" sz="2400" b="1" err="1">
                <a:ea typeface="+mn-lt"/>
                <a:cs typeface="+mn-lt"/>
              </a:rPr>
              <a:t>support_tickets</a:t>
            </a:r>
            <a:r>
              <a:rPr lang="he-IL" sz="2400" dirty="0">
                <a:ea typeface="+mn-lt"/>
                <a:cs typeface="+mn-lt"/>
              </a:rPr>
              <a:t> 20,000 פניות תמיכה</a:t>
            </a:r>
            <a:endParaRPr lang="he-IL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1351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213C0B-D296-9216-871A-2C89DF62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362" y="365125"/>
            <a:ext cx="10462438" cy="1609097"/>
          </a:xfrm>
        </p:spPr>
        <p:txBody>
          <a:bodyPr vert="horz" lIns="91440" tIns="45720" rIns="91440" bIns="45720" rtlCol="1" anchor="b">
            <a:noAutofit/>
          </a:bodyPr>
          <a:lstStyle/>
          <a:p>
            <a:r>
              <a:rPr lang="af-ZA" sz="2400" dirty="0" err="1"/>
              <a:t>Sql</a:t>
            </a:r>
            <a:r>
              <a:rPr lang="af-ZA" sz="2400" dirty="0"/>
              <a:t> </a:t>
            </a:r>
            <a:r>
              <a:rPr lang="he-IL" sz="2400" dirty="0">
                <a:cs typeface="Times New Roman"/>
              </a:rPr>
              <a:t>היא שפת שאילתות שמאפשרת לשלוף, לסנן ולחבר נתונים. השתמשנו ב-</a:t>
            </a:r>
            <a:r>
              <a:rPr lang="af-ZA" sz="2400" dirty="0"/>
              <a:t>SQL </a:t>
            </a:r>
            <a:r>
              <a:rPr lang="he-IL" sz="2400" dirty="0">
                <a:cs typeface="Times New Roman"/>
              </a:rPr>
              <a:t>כדי לנתח את 8 הטבלאות הבנקאיות ולענות על 5 שאלות מחקר: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4CA9BDD-B66A-DA19-89C6-2DD8EFD8B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7944" y="2295229"/>
            <a:ext cx="5181600" cy="4351338"/>
          </a:xfrm>
        </p:spPr>
        <p:txBody>
          <a:bodyPr vert="horz" lIns="91440" tIns="45720" rIns="91440" bIns="45720" rtlCol="1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af-ZA" sz="1400" b="1" u="sng" dirty="0" err="1">
                <a:cs typeface="Arial"/>
              </a:rPr>
              <a:t>כלים</a:t>
            </a:r>
            <a:r>
              <a:rPr lang="af-ZA" sz="1400" b="1" u="sng" dirty="0">
                <a:cs typeface="Arial"/>
              </a:rPr>
              <a:t> </a:t>
            </a:r>
            <a:r>
              <a:rPr lang="af-ZA" sz="1400" b="1" u="sng" dirty="0" err="1">
                <a:cs typeface="Arial"/>
              </a:rPr>
              <a:t>בהם</a:t>
            </a:r>
            <a:r>
              <a:rPr lang="af-ZA" sz="1400" b="1" u="sng" dirty="0">
                <a:cs typeface="Arial"/>
              </a:rPr>
              <a:t> </a:t>
            </a:r>
            <a:r>
              <a:rPr lang="af-ZA" sz="1400" b="1" u="sng" dirty="0" err="1">
                <a:cs typeface="Arial"/>
              </a:rPr>
              <a:t>השתמשנו</a:t>
            </a:r>
            <a:r>
              <a:rPr lang="af-ZA" sz="1400" b="1" u="sng" dirty="0">
                <a:cs typeface="Arial"/>
              </a:rPr>
              <a:t>:</a:t>
            </a:r>
            <a:r>
              <a:rPr lang="af-ZA" sz="1400" dirty="0">
                <a:cs typeface="Arial"/>
              </a:rPr>
              <a:t>
SELECT   </a:t>
            </a:r>
            <a:r>
              <a:rPr lang="af-ZA" sz="1400" dirty="0" err="1">
                <a:cs typeface="Arial"/>
              </a:rPr>
              <a:t>שליפת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עמודות</a:t>
            </a:r>
            <a:r>
              <a:rPr lang="af-ZA" sz="1400" dirty="0">
                <a:cs typeface="Arial"/>
              </a:rPr>
              <a:t>
WHERE </a:t>
            </a:r>
            <a:r>
              <a:rPr lang="af-ZA" sz="1400" dirty="0" err="1">
                <a:cs typeface="Arial"/>
              </a:rPr>
              <a:t>סינון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שורות</a:t>
            </a:r>
            <a:r>
              <a:rPr lang="af-ZA" sz="1400" dirty="0">
                <a:cs typeface="Arial"/>
              </a:rPr>
              <a:t>
GROUP BY </a:t>
            </a:r>
            <a:r>
              <a:rPr lang="af-ZA" sz="1400" dirty="0" err="1">
                <a:cs typeface="Arial"/>
              </a:rPr>
              <a:t>קיבוץ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נתונים</a:t>
            </a:r>
            <a:r>
              <a:rPr lang="af-ZA" sz="1400" dirty="0">
                <a:cs typeface="Arial"/>
              </a:rPr>
              <a:t>
</a:t>
            </a:r>
            <a:r>
              <a:rPr lang="af-ZA" sz="1400" dirty="0" err="1">
                <a:cs typeface="Arial"/>
              </a:rPr>
              <a:t>JOINs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חיבור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טבלאות</a:t>
            </a:r>
            <a:r>
              <a:rPr lang="af-ZA" sz="1400" dirty="0">
                <a:cs typeface="Arial"/>
              </a:rPr>
              <a:t>
</a:t>
            </a:r>
            <a:r>
              <a:rPr lang="af-ZA" sz="1400" dirty="0" err="1">
                <a:cs typeface="Arial"/>
              </a:rPr>
              <a:t>CTEs</a:t>
            </a:r>
            <a:r>
              <a:rPr lang="af-ZA" sz="1400" dirty="0">
                <a:cs typeface="Arial"/>
              </a:rPr>
              <a:t> (WITH) </a:t>
            </a:r>
            <a:r>
              <a:rPr lang="af-ZA" sz="1400" dirty="0" err="1">
                <a:cs typeface="Arial"/>
              </a:rPr>
              <a:t>חישובים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רב-שלביים</a:t>
            </a:r>
            <a:r>
              <a:rPr lang="af-ZA" sz="1400" dirty="0">
                <a:cs typeface="Arial"/>
              </a:rPr>
              <a:t>
Window </a:t>
            </a:r>
            <a:r>
              <a:rPr lang="af-ZA" sz="1400" dirty="0" err="1">
                <a:cs typeface="Arial"/>
              </a:rPr>
              <a:t>Functions</a:t>
            </a:r>
            <a:r>
              <a:rPr lang="af-ZA" sz="1400" dirty="0">
                <a:cs typeface="Arial"/>
              </a:rPr>
              <a:t> NTILE, RANK
CASE WHEN </a:t>
            </a:r>
            <a:r>
              <a:rPr lang="af-ZA" sz="1400" dirty="0" err="1">
                <a:cs typeface="Arial"/>
              </a:rPr>
              <a:t>לוגיקה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מותנית</a:t>
            </a:r>
            <a:r>
              <a:rPr lang="af-ZA" sz="1400" dirty="0">
                <a:cs typeface="Arial"/>
              </a:rPr>
              <a:t>
</a:t>
            </a:r>
            <a:r>
              <a:rPr lang="af-ZA" sz="1400" dirty="0" err="1">
                <a:cs typeface="Arial"/>
              </a:rPr>
              <a:t>Aggregations</a:t>
            </a:r>
            <a:r>
              <a:rPr lang="af-ZA" sz="1400" dirty="0">
                <a:cs typeface="Arial"/>
              </a:rPr>
              <a:t> SUM, AVG, COUNT, MIN, MAX
</a:t>
            </a:r>
            <a:r>
              <a:rPr lang="af-ZA" sz="1400" b="1" u="sng" dirty="0" err="1">
                <a:cs typeface="Arial"/>
              </a:rPr>
              <a:t>תובנות</a:t>
            </a:r>
            <a:r>
              <a:rPr lang="af-ZA" sz="1400" b="1" u="sng" dirty="0">
                <a:cs typeface="Arial"/>
              </a:rPr>
              <a:t> </a:t>
            </a:r>
            <a:r>
              <a:rPr lang="af-ZA" sz="1400" b="1" u="sng" dirty="0" err="1">
                <a:cs typeface="Arial"/>
              </a:rPr>
              <a:t>עסקיות</a:t>
            </a:r>
            <a:r>
              <a:rPr lang="af-ZA" sz="1400" b="1" u="sng" dirty="0">
                <a:cs typeface="Arial"/>
              </a:rPr>
              <a:t>:</a:t>
            </a:r>
            <a:r>
              <a:rPr lang="af-ZA" sz="1400" dirty="0">
                <a:cs typeface="Arial"/>
              </a:rPr>
              <a:t>
</a:t>
            </a:r>
            <a:r>
              <a:rPr lang="af-ZA" sz="1400" dirty="0" err="1">
                <a:cs typeface="Arial"/>
              </a:rPr>
              <a:t>אין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קשר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בין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הכנסה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לגודל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ההלוואה</a:t>
            </a:r>
            <a:r>
              <a:rPr lang="af-ZA" sz="1400" dirty="0">
                <a:cs typeface="Arial"/>
              </a:rPr>
              <a:t>
</a:t>
            </a:r>
            <a:r>
              <a:rPr lang="af-ZA" sz="1400" dirty="0" err="1">
                <a:cs typeface="Arial"/>
              </a:rPr>
              <a:t>הריבית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זהה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לכולם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אין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תמחור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לפי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סיכון</a:t>
            </a:r>
            <a:r>
              <a:rPr lang="af-ZA" sz="1400" dirty="0">
                <a:cs typeface="Arial"/>
              </a:rPr>
              <a:t>
</a:t>
            </a:r>
            <a:r>
              <a:rPr lang="af-ZA" sz="1400" dirty="0" err="1">
                <a:cs typeface="Arial"/>
              </a:rPr>
              <a:t>זמן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פתרון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לא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משפיע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על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שביעות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רצון</a:t>
            </a:r>
            <a:r>
              <a:rPr lang="af-ZA" sz="1400" dirty="0">
                <a:cs typeface="Arial"/>
              </a:rPr>
              <a:t>
2,986 </a:t>
            </a:r>
            <a:r>
              <a:rPr lang="af-ZA" sz="1400" dirty="0" err="1">
                <a:cs typeface="Arial"/>
              </a:rPr>
              <a:t>לקוחות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בסיכון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לא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לאשר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להם</a:t>
            </a:r>
            <a:r>
              <a:rPr lang="af-ZA" sz="1400" dirty="0">
                <a:cs typeface="Arial"/>
              </a:rPr>
              <a:t> </a:t>
            </a:r>
            <a:r>
              <a:rPr lang="af-ZA" sz="1400" dirty="0" err="1">
                <a:cs typeface="Arial"/>
              </a:rPr>
              <a:t>הלוואה</a:t>
            </a:r>
            <a:endParaRPr lang="he-IL" sz="1400">
              <a:cs typeface="Arial"/>
            </a:endParaRP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7F308ED-A0C5-C894-D3B2-A1384E9B7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95229"/>
            <a:ext cx="5181600" cy="4351338"/>
          </a:xfrm>
        </p:spPr>
        <p:txBody>
          <a:bodyPr vert="horz" lIns="91440" tIns="45720" rIns="91440" bIns="45720" rtlCol="1" anchor="t">
            <a:noAutofit/>
          </a:bodyPr>
          <a:lstStyle/>
          <a:p>
            <a:pPr marL="0" indent="0">
              <a:buNone/>
            </a:pPr>
            <a:r>
              <a:rPr lang="he-IL" sz="2000" dirty="0">
                <a:cs typeface="Arial"/>
              </a:rPr>
              <a:t>1. האם לקוחות עם הכנסה גבוהה לוקחים הלוואות גדולות יותר? → לא.</a:t>
            </a:r>
            <a:r>
              <a:rPr lang="he-IL" sz="2000" dirty="0">
                <a:solidFill>
                  <a:schemeClr val="tx2">
                    <a:lumMod val="76000"/>
                    <a:lumOff val="24000"/>
                  </a:schemeClr>
                </a:solidFill>
                <a:cs typeface="Arial"/>
              </a:rPr>
              <a:t> אין קשר בין הכנסה לגודל ההלוואה.</a:t>
            </a:r>
            <a:r>
              <a:rPr lang="he-IL" sz="2000" dirty="0">
                <a:cs typeface="Arial"/>
              </a:rPr>
              <a:t> </a:t>
            </a:r>
            <a:endParaRPr lang="he-IL" sz="200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he-IL" sz="2000" dirty="0">
                <a:cs typeface="Arial"/>
              </a:rPr>
              <a:t>2. האם דירוג אשראי נמוך מוביל לריבית גבוהה? → </a:t>
            </a:r>
            <a:r>
              <a:rPr lang="he-IL" sz="2000" dirty="0">
                <a:solidFill>
                  <a:schemeClr val="tx2">
                    <a:lumMod val="76000"/>
                    <a:lumOff val="24000"/>
                  </a:schemeClr>
                </a:solidFill>
                <a:cs typeface="Arial"/>
              </a:rPr>
              <a:t>לא. הריבית זהה לכולם הבדל של 0.1 בלבד. </a:t>
            </a:r>
          </a:p>
          <a:p>
            <a:pPr marL="0" indent="0">
              <a:buNone/>
            </a:pPr>
            <a:r>
              <a:rPr lang="he-IL" sz="2000" dirty="0">
                <a:cs typeface="Arial"/>
              </a:rPr>
              <a:t>3. האם זמן פתרון פניות משפיע על שביעות רצון? → </a:t>
            </a:r>
            <a:r>
              <a:rPr lang="he-IL" sz="2000" dirty="0">
                <a:solidFill>
                  <a:schemeClr val="tx2">
                    <a:lumMod val="76000"/>
                    <a:lumOff val="24000"/>
                  </a:schemeClr>
                </a:solidFill>
                <a:cs typeface="Arial"/>
              </a:rPr>
              <a:t>לא. שביעות הרצון זהה בכל הקבוצות 3.0. </a:t>
            </a:r>
          </a:p>
          <a:p>
            <a:pPr marL="0" indent="0">
              <a:buNone/>
            </a:pPr>
            <a:r>
              <a:rPr lang="he-IL" sz="2000" dirty="0">
                <a:cs typeface="Arial"/>
              </a:rPr>
              <a:t>4. מה מאפיין לקוחות שמאחרים בתשלומים? → </a:t>
            </a:r>
            <a:r>
              <a:rPr lang="he-IL" sz="2000" dirty="0">
                <a:solidFill>
                  <a:schemeClr val="tx2">
                    <a:lumMod val="76000"/>
                    <a:lumOff val="24000"/>
                  </a:schemeClr>
                </a:solidFill>
                <a:cs typeface="Arial"/>
              </a:rPr>
              <a:t>אין הבדל משמעותי. 97% מהלקוחות איחרו לפחות פעם אחת. </a:t>
            </a:r>
          </a:p>
          <a:p>
            <a:pPr marL="0" indent="0">
              <a:buNone/>
            </a:pPr>
            <a:r>
              <a:rPr lang="he-IL" sz="2000" dirty="0">
                <a:cs typeface="Arial"/>
              </a:rPr>
              <a:t>5. למי לא לאשר הלוואה נוספת? →</a:t>
            </a:r>
            <a:r>
              <a:rPr lang="he-IL" sz="2000" dirty="0">
                <a:solidFill>
                  <a:schemeClr val="tx2">
                    <a:lumMod val="76000"/>
                    <a:lumOff val="24000"/>
                  </a:schemeClr>
                </a:solidFill>
                <a:cs typeface="Arial"/>
              </a:rPr>
              <a:t> 2,986 לקוחות (6.27%) דירוג נמוך, הכנסה נמוכה, 63% סטודנטים.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0125B45-633E-E430-54F4-04DD53D98B2D}"/>
              </a:ext>
            </a:extLst>
          </p:cNvPr>
          <p:cNvSpPr txBox="1"/>
          <p:nvPr/>
        </p:nvSpPr>
        <p:spPr>
          <a:xfrm>
            <a:off x="5413745" y="363280"/>
            <a:ext cx="1922721" cy="6640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e-IL" sz="3600" dirty="0">
                <a:latin typeface="Arial"/>
                <a:cs typeface="Arial"/>
              </a:rPr>
              <a:t>SQL</a:t>
            </a:r>
            <a:endParaRPr lang="he-IL" sz="3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4684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59ED80E-3044-6184-011B-425EFB23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270" y="99311"/>
            <a:ext cx="10134600" cy="971145"/>
          </a:xfrm>
          <a:solidFill>
            <a:schemeClr val="bg1"/>
          </a:solidFill>
        </p:spPr>
        <p:txBody>
          <a:bodyPr vert="horz" lIns="91440" tIns="45720" rIns="91440" bIns="45720" rtlCol="1" anchor="t">
            <a:noAutofit/>
          </a:bodyPr>
          <a:lstStyle/>
          <a:p>
            <a:pPr algn="ctr"/>
            <a:r>
              <a:rPr lang="he-IL" sz="3200" dirty="0" err="1">
                <a:solidFill>
                  <a:srgbClr val="000000"/>
                </a:solidFill>
                <a:latin typeface="Arial"/>
                <a:ea typeface="+mj-lt"/>
                <a:cs typeface="Arial"/>
              </a:rPr>
              <a:t>Excel</a:t>
            </a:r>
            <a:r>
              <a:rPr lang="he-IL" sz="3200" dirty="0">
                <a:solidFill>
                  <a:srgbClr val="000000"/>
                </a:solidFill>
                <a:latin typeface="Arial"/>
                <a:ea typeface="+mj-lt"/>
                <a:cs typeface="Arial"/>
              </a:rPr>
              <a:t> </a:t>
            </a:r>
            <a:endParaRPr lang="he-IL" sz="3200">
              <a:latin typeface="Arial"/>
              <a:cs typeface="Arial"/>
            </a:endParaRPr>
          </a:p>
          <a:p>
            <a:pPr algn="ctr"/>
            <a:r>
              <a:rPr lang="he-IL" sz="3200" dirty="0">
                <a:latin typeface="Arial"/>
                <a:ea typeface="+mj-lt"/>
                <a:cs typeface="Arial"/>
              </a:rPr>
              <a:t>12 גיליונות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BD825F5-FF27-7863-71DA-8EA2A403A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277508"/>
            <a:ext cx="5261343" cy="4253873"/>
          </a:xfrm>
        </p:spPr>
        <p:txBody>
          <a:bodyPr vert="horz" lIns="91440" tIns="45720" rIns="91440" bIns="45720" rtlCol="1" anchor="t">
            <a:normAutofit/>
          </a:bodyPr>
          <a:lstStyle/>
          <a:p>
            <a:pPr marL="0" indent="0" algn="ctr">
              <a:buNone/>
            </a:pPr>
            <a:r>
              <a:rPr lang="he-IL" sz="3200" dirty="0">
                <a:cs typeface="Arial"/>
              </a:rPr>
              <a:t>נוסחאות מורכבות:</a:t>
            </a:r>
            <a:endParaRPr lang="he-IL" dirty="0">
              <a:cs typeface="Arial"/>
            </a:endParaRPr>
          </a:p>
          <a:p>
            <a:pPr marL="0" indent="0" algn="ctr">
              <a:buNone/>
            </a:pPr>
            <a:endParaRPr lang="he-IL" sz="3200" dirty="0">
              <a:cs typeface="Arial"/>
            </a:endParaRPr>
          </a:p>
          <a:p>
            <a:pPr marL="457200" indent="-457200">
              <a:buAutoNum type="arabicPeriod"/>
            </a:pPr>
            <a:r>
              <a:rPr lang="he-IL" sz="2000" dirty="0">
                <a:cs typeface="Arial"/>
              </a:rPr>
              <a:t> </a:t>
            </a:r>
            <a:r>
              <a:rPr lang="af-ZA" sz="2000" dirty="0"/>
              <a:t>XLOOKUP </a:t>
            </a:r>
            <a:endParaRPr lang="he-IL" sz="2000">
              <a:cs typeface="Arial"/>
            </a:endParaRPr>
          </a:p>
          <a:p>
            <a:pPr marL="457200" indent="-457200">
              <a:buAutoNum type="arabicPeriod"/>
            </a:pPr>
            <a:r>
              <a:rPr lang="af-ZA" sz="2000" dirty="0"/>
              <a:t>INDEX+MATCH </a:t>
            </a:r>
            <a:endParaRPr lang="he-IL" sz="2000" dirty="0">
              <a:cs typeface="Arial"/>
            </a:endParaRPr>
          </a:p>
          <a:p>
            <a:pPr marL="457200" indent="-457200">
              <a:buAutoNum type="arabicPeriod"/>
            </a:pPr>
            <a:r>
              <a:rPr lang="af-ZA" sz="2000" dirty="0"/>
              <a:t>SUMIFS</a:t>
            </a:r>
            <a:endParaRPr lang="he-IL" sz="2000" dirty="0">
              <a:cs typeface="Arial"/>
            </a:endParaRPr>
          </a:p>
          <a:p>
            <a:pPr marL="457200" indent="-457200">
              <a:buAutoNum type="arabicPeriod"/>
            </a:pPr>
            <a:r>
              <a:rPr lang="af-ZA" sz="2000" dirty="0"/>
              <a:t>SUMPRODUCT</a:t>
            </a:r>
            <a:endParaRPr lang="he-IL" sz="2000" dirty="0">
              <a:cs typeface="Arial"/>
            </a:endParaRPr>
          </a:p>
          <a:p>
            <a:pPr marL="457200" indent="-457200">
              <a:buAutoNum type="arabicPeriod"/>
            </a:pPr>
            <a:r>
              <a:rPr lang="af-ZA" sz="2000" dirty="0"/>
              <a:t>FILTER</a:t>
            </a:r>
            <a:endParaRPr lang="he-IL" sz="2000" dirty="0">
              <a:cs typeface="Arial"/>
            </a:endParaRPr>
          </a:p>
          <a:p>
            <a:pPr marL="457200" indent="-457200">
              <a:buAutoNum type="arabicPeriod"/>
            </a:pPr>
            <a:r>
              <a:rPr lang="af-ZA" sz="2000" dirty="0"/>
              <a:t>LARGE+IF</a:t>
            </a:r>
            <a:endParaRPr lang="he-IL" sz="2000" dirty="0">
              <a:cs typeface="Arial"/>
            </a:endParaRPr>
          </a:p>
          <a:p>
            <a:pPr marL="457200" indent="-457200">
              <a:buAutoNum type="arabicPeriod"/>
            </a:pPr>
            <a:r>
              <a:rPr lang="af-ZA" sz="2000" dirty="0"/>
              <a:t>TEXTJOIN</a:t>
            </a:r>
            <a:endParaRPr lang="he-IL" sz="2000" dirty="0">
              <a:cs typeface="Arial"/>
            </a:endParaRP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8562660-D30E-8B28-9F25-48AA44115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1318" y="2259788"/>
            <a:ext cx="5252482" cy="4271593"/>
          </a:xfrm>
        </p:spPr>
        <p:txBody>
          <a:bodyPr vert="horz" lIns="91440" tIns="45720" rIns="91440" bIns="45720" rtlCol="1" anchor="t">
            <a:normAutofit/>
          </a:bodyPr>
          <a:lstStyle/>
          <a:p>
            <a:pPr algn="ctr">
              <a:buNone/>
            </a:pPr>
            <a:r>
              <a:rPr lang="he-IL" sz="2000" b="1" u="sng" dirty="0">
                <a:ea typeface="+mn-lt"/>
                <a:cs typeface="+mn-lt"/>
              </a:rPr>
              <a:t>8 גיליונות נתונים</a:t>
            </a:r>
            <a:endParaRPr lang="he-IL" sz="2000" u="sng">
              <a:cs typeface="Arial"/>
            </a:endParaRPr>
          </a:p>
          <a:p>
            <a:pPr algn="ctr">
              <a:buNone/>
            </a:pPr>
            <a:r>
              <a:rPr lang="he-IL" sz="1800" dirty="0" err="1">
                <a:latin typeface="Consolas"/>
                <a:cs typeface="Arial"/>
              </a:rPr>
              <a:t>customers</a:t>
            </a:r>
            <a:r>
              <a:rPr lang="he-IL" sz="1800" dirty="0">
                <a:ea typeface="+mn-lt"/>
                <a:cs typeface="+mn-lt"/>
              </a:rPr>
              <a:t>, </a:t>
            </a:r>
            <a:r>
              <a:rPr lang="he-IL" sz="1800" dirty="0" err="1">
                <a:latin typeface="Consolas"/>
                <a:cs typeface="Arial"/>
              </a:rPr>
              <a:t>accounts</a:t>
            </a:r>
            <a:r>
              <a:rPr lang="he-IL" sz="1800" dirty="0">
                <a:ea typeface="+mn-lt"/>
                <a:cs typeface="+mn-lt"/>
              </a:rPr>
              <a:t>, </a:t>
            </a:r>
            <a:r>
              <a:rPr lang="he-IL" sz="1800" dirty="0" err="1">
                <a:latin typeface="Consolas"/>
                <a:cs typeface="Arial"/>
              </a:rPr>
              <a:t>cards</a:t>
            </a:r>
            <a:r>
              <a:rPr lang="he-IL" sz="1800" dirty="0">
                <a:ea typeface="+mn-lt"/>
                <a:cs typeface="+mn-lt"/>
              </a:rPr>
              <a:t>, </a:t>
            </a:r>
            <a:r>
              <a:rPr lang="he-IL" sz="1800" dirty="0" err="1">
                <a:latin typeface="Consolas"/>
                <a:cs typeface="Arial"/>
              </a:rPr>
              <a:t>loans</a:t>
            </a:r>
            <a:r>
              <a:rPr lang="he-IL" sz="1800" dirty="0">
                <a:ea typeface="+mn-lt"/>
                <a:cs typeface="+mn-lt"/>
              </a:rPr>
              <a:t>, </a:t>
            </a:r>
            <a:r>
              <a:rPr lang="he-IL" sz="1800" dirty="0" err="1">
                <a:latin typeface="Consolas"/>
                <a:cs typeface="Arial"/>
              </a:rPr>
              <a:t>loan_payments</a:t>
            </a:r>
            <a:r>
              <a:rPr lang="he-IL" sz="1800" dirty="0">
                <a:ea typeface="+mn-lt"/>
                <a:cs typeface="+mn-lt"/>
              </a:rPr>
              <a:t>, </a:t>
            </a:r>
            <a:r>
              <a:rPr lang="he-IL" sz="1800" dirty="0" err="1">
                <a:latin typeface="Consolas"/>
                <a:cs typeface="Arial"/>
              </a:rPr>
              <a:t>branches</a:t>
            </a:r>
            <a:r>
              <a:rPr lang="he-IL" sz="1800" dirty="0">
                <a:ea typeface="+mn-lt"/>
                <a:cs typeface="+mn-lt"/>
              </a:rPr>
              <a:t>, </a:t>
            </a:r>
            <a:r>
              <a:rPr lang="he-IL" sz="1800" dirty="0" err="1">
                <a:latin typeface="Consolas"/>
                <a:cs typeface="Arial"/>
              </a:rPr>
              <a:t>employees</a:t>
            </a:r>
            <a:r>
              <a:rPr lang="he-IL" sz="1800" dirty="0">
                <a:ea typeface="+mn-lt"/>
                <a:cs typeface="+mn-lt"/>
              </a:rPr>
              <a:t>, </a:t>
            </a:r>
            <a:r>
              <a:rPr lang="he-IL" sz="1800" dirty="0" err="1">
                <a:latin typeface="Consolas"/>
                <a:cs typeface="Arial"/>
              </a:rPr>
              <a:t>support_tickets</a:t>
            </a:r>
            <a:endParaRPr lang="he-IL" sz="1800" dirty="0">
              <a:cs typeface="Arial"/>
            </a:endParaRPr>
          </a:p>
          <a:p>
            <a:pPr algn="ctr">
              <a:buNone/>
            </a:pPr>
            <a:r>
              <a:rPr lang="he-IL" sz="2000" b="1" u="sng" dirty="0">
                <a:ea typeface="+mn-lt"/>
                <a:cs typeface="+mn-lt"/>
              </a:rPr>
              <a:t>4 גיליונות ניתוח</a:t>
            </a:r>
            <a:endParaRPr lang="he-IL" sz="2000" u="sng">
              <a:cs typeface="Arial"/>
            </a:endParaRPr>
          </a:p>
          <a:p>
            <a:pPr algn="ctr">
              <a:buNone/>
            </a:pPr>
            <a:r>
              <a:rPr lang="he-IL" sz="1800" b="1" dirty="0" err="1">
                <a:ea typeface="+mn-lt"/>
                <a:cs typeface="+mn-lt"/>
              </a:rPr>
              <a:t>Analysis</a:t>
            </a:r>
            <a:r>
              <a:rPr lang="he-IL" sz="1800" dirty="0">
                <a:ea typeface="+mn-lt"/>
                <a:cs typeface="+mn-lt"/>
              </a:rPr>
              <a:t> — עשרה חישובים ונוסחאות מורכבות</a:t>
            </a:r>
            <a:endParaRPr lang="he-IL" sz="1800" dirty="0">
              <a:cs typeface="Arial"/>
            </a:endParaRPr>
          </a:p>
          <a:p>
            <a:pPr algn="ctr">
              <a:buNone/>
            </a:pPr>
            <a:r>
              <a:rPr lang="he-IL" sz="1800" b="1" dirty="0" err="1">
                <a:ea typeface="+mn-lt"/>
                <a:cs typeface="+mn-lt"/>
              </a:rPr>
              <a:t>Pivot</a:t>
            </a:r>
            <a:r>
              <a:rPr lang="he-IL" sz="1800" b="1" dirty="0">
                <a:ea typeface="+mn-lt"/>
                <a:cs typeface="+mn-lt"/>
              </a:rPr>
              <a:t> </a:t>
            </a:r>
            <a:r>
              <a:rPr lang="he-IL" sz="1800" b="1" dirty="0" err="1">
                <a:ea typeface="+mn-lt"/>
                <a:cs typeface="+mn-lt"/>
              </a:rPr>
              <a:t>Tables</a:t>
            </a:r>
            <a:r>
              <a:rPr lang="he-IL" sz="1800" dirty="0">
                <a:ea typeface="+mn-lt"/>
                <a:cs typeface="+mn-lt"/>
              </a:rPr>
              <a:t> — ארבע טבלאות צליבה מלוות בגרפים (</a:t>
            </a:r>
            <a:r>
              <a:rPr lang="he-IL" sz="1800" dirty="0" err="1">
                <a:ea typeface="+mn-lt"/>
                <a:cs typeface="+mn-lt"/>
              </a:rPr>
              <a:t>Charts</a:t>
            </a:r>
            <a:r>
              <a:rPr lang="he-IL" sz="1800" dirty="0">
                <a:ea typeface="+mn-lt"/>
                <a:cs typeface="+mn-lt"/>
              </a:rPr>
              <a:t>)</a:t>
            </a:r>
            <a:endParaRPr lang="he-IL" sz="1800" dirty="0">
              <a:cs typeface="Arial"/>
            </a:endParaRPr>
          </a:p>
          <a:p>
            <a:pPr algn="ctr">
              <a:buNone/>
            </a:pPr>
            <a:r>
              <a:rPr lang="he-IL" sz="1800" b="1" err="1">
                <a:ea typeface="+mn-lt"/>
                <a:cs typeface="+mn-lt"/>
              </a:rPr>
              <a:t>Dashboard</a:t>
            </a:r>
            <a:r>
              <a:rPr lang="he-IL" sz="1800" dirty="0">
                <a:ea typeface="+mn-lt"/>
                <a:cs typeface="+mn-lt"/>
              </a:rPr>
              <a:t> — כרטיסי מדדים (KPI </a:t>
            </a:r>
            <a:r>
              <a:rPr lang="he-IL" sz="1800" err="1">
                <a:ea typeface="+mn-lt"/>
                <a:cs typeface="+mn-lt"/>
              </a:rPr>
              <a:t>Cards</a:t>
            </a:r>
            <a:r>
              <a:rPr lang="he-IL" sz="1800" dirty="0">
                <a:ea typeface="+mn-lt"/>
                <a:cs typeface="+mn-lt"/>
              </a:rPr>
              <a:t>) וויזואליזציה מתקדמת</a:t>
            </a:r>
            <a:endParaRPr lang="he-IL" sz="1800" dirty="0">
              <a:cs typeface="Arial"/>
            </a:endParaRPr>
          </a:p>
          <a:p>
            <a:pPr algn="ctr">
              <a:buNone/>
            </a:pPr>
            <a:r>
              <a:rPr lang="he-IL" sz="1800" b="1" err="1">
                <a:ea typeface="+mn-lt"/>
                <a:cs typeface="+mn-lt"/>
              </a:rPr>
              <a:t>What-If</a:t>
            </a:r>
            <a:r>
              <a:rPr lang="he-IL" sz="1800" dirty="0">
                <a:ea typeface="+mn-lt"/>
                <a:cs typeface="+mn-lt"/>
              </a:rPr>
              <a:t> — ניתוח תרחישים ובדיקת רגישות</a:t>
            </a:r>
            <a:endParaRPr lang="he-IL" sz="1800" dirty="0">
              <a:cs typeface="Arial"/>
            </a:endParaRPr>
          </a:p>
          <a:p>
            <a:pPr marL="0" indent="0" algn="ctr">
              <a:buNone/>
            </a:pPr>
            <a:endParaRPr lang="he-IL" sz="1800" dirty="0">
              <a:cs typeface="Arial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83B2529E-6DED-823C-A60D-B4E42D83DAA4}"/>
              </a:ext>
            </a:extLst>
          </p:cNvPr>
          <p:cNvSpPr txBox="1"/>
          <p:nvPr/>
        </p:nvSpPr>
        <p:spPr>
          <a:xfrm>
            <a:off x="842040" y="1128233"/>
            <a:ext cx="1030206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e-IL" sz="1400" dirty="0">
                <a:latin typeface="Consolas"/>
                <a:cs typeface="Arial"/>
              </a:rPr>
              <a:t>אקסל היא תוכנה לניתוח נתונים עם טבלאות, נוסחאות וגרפים. השתמשנו בה כדי לארגן, לנתח ולהציג את הנתונים הבנקאיים.
הקובץ כולל 12 גיליונות:
8 גיליונות נתונים — הטבלאות הגולמיות
4 גיליונות ניתוח — תוצרי הניתוח</a:t>
            </a:r>
            <a:endParaRPr lang="he-IL" sz="1400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383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0C2541-0962-567A-9248-0DC21D208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1426"/>
            <a:ext cx="10515600" cy="652168"/>
          </a:xfrm>
        </p:spPr>
        <p:txBody>
          <a:bodyPr vert="horz" lIns="91440" tIns="45720" rIns="91440" bIns="45720" rtlCol="1" anchor="ctr">
            <a:noAutofit/>
          </a:bodyPr>
          <a:lstStyle/>
          <a:p>
            <a:r>
              <a:rPr lang="he-IL" sz="1800" dirty="0" err="1">
                <a:latin typeface="Arial"/>
                <a:cs typeface="Arial"/>
              </a:rPr>
              <a:t>Power</a:t>
            </a:r>
            <a:r>
              <a:rPr lang="he-IL" sz="1800" dirty="0">
                <a:latin typeface="Arial"/>
                <a:cs typeface="Arial"/>
              </a:rPr>
              <a:t> BI היא תוכנה של מיקרוסופט לבניית </a:t>
            </a:r>
            <a:r>
              <a:rPr lang="he-IL" sz="1800" dirty="0" err="1">
                <a:latin typeface="Arial"/>
                <a:cs typeface="Arial"/>
              </a:rPr>
              <a:t>דשבורדים</a:t>
            </a:r>
            <a:r>
              <a:rPr lang="he-IL" sz="1800" dirty="0">
                <a:latin typeface="Arial"/>
                <a:cs typeface="Arial"/>
              </a:rPr>
              <a:t> אינטראקטיביים. השתמשנו בה כדי לבנות דוח ויזואלי שמאפשר חקירה חיה של הנתונים.</a:t>
            </a:r>
            <a:endParaRPr lang="he-IL" sz="1800">
              <a:latin typeface="Arial"/>
              <a:cs typeface="Arial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321943-3315-4567-D607-8809B5ABD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29415"/>
            <a:ext cx="5234762" cy="4147548"/>
          </a:xfrm>
        </p:spPr>
        <p:txBody>
          <a:bodyPr vert="horz" lIns="91440" tIns="45720" rIns="91440" bIns="45720" rtlCol="1" anchor="t">
            <a:normAutofit/>
          </a:bodyPr>
          <a:lstStyle/>
          <a:p>
            <a:pPr marL="0" indent="0" algn="ctr" rtl="0">
              <a:buNone/>
            </a:pPr>
            <a:r>
              <a:rPr lang="he-IL" sz="2000" b="1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מדדים </a:t>
            </a:r>
            <a:r>
              <a:rPr lang="af-ZA" sz="2000" b="1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DAX </a:t>
            </a:r>
            <a:r>
              <a:rPr lang="af-ZA" sz="2000" b="1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Measures</a:t>
            </a:r>
            <a:endParaRPr lang="af-ZA" sz="2000" b="1" dirty="0" err="1">
              <a:solidFill>
                <a:srgbClr val="1F1F1F"/>
              </a:solidFill>
              <a:latin typeface="Arial"/>
              <a:cs typeface="Arial"/>
            </a:endParaRPr>
          </a:p>
          <a:p>
            <a:pPr marL="0" indent="0" algn="l" rtl="0">
              <a:buNone/>
            </a:pPr>
            <a:br>
              <a:rPr lang="af-ZA" sz="1800" dirty="0">
                <a:latin typeface="Arial"/>
                <a:ea typeface="Google Sans Text"/>
                <a:cs typeface="Arial"/>
              </a:rPr>
            </a:b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Total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Loan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Amount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,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Total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Customers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,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Average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Credit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Score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, Late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Payment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 Rate</a:t>
            </a:r>
          </a:p>
          <a:p>
            <a:pPr marL="0" indent="0" algn="ctr" rtl="0">
              <a:buNone/>
            </a:pPr>
            <a:br>
              <a:rPr lang="af-ZA" sz="2000" dirty="0">
                <a:latin typeface="Arial"/>
                <a:ea typeface="Google Sans Text"/>
                <a:cs typeface="Arial"/>
              </a:rPr>
            </a:br>
            <a:r>
              <a:rPr lang="he-IL" sz="2000" b="1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תכונות אינטראקטיביות</a:t>
            </a:r>
          </a:p>
          <a:p>
            <a:pPr marL="0" indent="0" algn="l" rtl="0">
              <a:buNone/>
            </a:pPr>
            <a:br>
              <a:rPr lang="he-IL" sz="1800" dirty="0">
                <a:latin typeface="Arial"/>
                <a:ea typeface="Google Sans Text"/>
                <a:cs typeface="Arial"/>
              </a:rPr>
            </a:b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Bookmarks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,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Drill-through</a:t>
            </a:r>
            <a:r>
              <a:rPr lang="af-ZA" sz="1800" dirty="0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, </a:t>
            </a:r>
            <a:r>
              <a:rPr lang="af-ZA" sz="1800" dirty="0" err="1">
                <a:solidFill>
                  <a:srgbClr val="1F1F1F"/>
                </a:solidFill>
                <a:latin typeface="Arial"/>
                <a:ea typeface="Google Sans Text"/>
                <a:cs typeface="Arial"/>
              </a:rPr>
              <a:t>Tooltips</a:t>
            </a:r>
            <a:endParaRPr lang="af-ZA" sz="1800" dirty="0">
              <a:solidFill>
                <a:srgbClr val="1F1F1F"/>
              </a:solidFill>
              <a:latin typeface="Arial"/>
              <a:ea typeface="Google Sans Text"/>
              <a:cs typeface="Arial"/>
            </a:endParaRP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7F00C04-F43A-32A3-D262-E1A56C5E3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9038" y="2029415"/>
            <a:ext cx="5234762" cy="4147548"/>
          </a:xfrm>
        </p:spPr>
        <p:txBody>
          <a:bodyPr vert="horz" lIns="91440" tIns="45720" rIns="91440" bIns="45720" rtlCol="1" anchor="t">
            <a:normAutofit/>
          </a:bodyPr>
          <a:lstStyle/>
          <a:p>
            <a:r>
              <a:rPr lang="he-IL" sz="2000" b="1" dirty="0" err="1">
                <a:ea typeface="+mn-lt"/>
                <a:cs typeface="+mn-lt"/>
              </a:rPr>
              <a:t>Overview</a:t>
            </a:r>
            <a:r>
              <a:rPr lang="he-IL" sz="2000" dirty="0">
                <a:ea typeface="+mn-lt"/>
                <a:cs typeface="+mn-lt"/>
              </a:rPr>
              <a:t> — ארבעה כרטיסי מדדים (KPI </a:t>
            </a:r>
            <a:r>
              <a:rPr lang="he-IL" sz="2000" dirty="0" err="1">
                <a:ea typeface="+mn-lt"/>
                <a:cs typeface="+mn-lt"/>
              </a:rPr>
              <a:t>Cards</a:t>
            </a:r>
            <a:r>
              <a:rPr lang="he-IL" sz="2000" dirty="0">
                <a:ea typeface="+mn-lt"/>
                <a:cs typeface="+mn-lt"/>
              </a:rPr>
              <a:t>) וגרף הלוואות</a:t>
            </a:r>
            <a:endParaRPr lang="he-IL" sz="2000" dirty="0">
              <a:cs typeface="Arial"/>
            </a:endParaRPr>
          </a:p>
          <a:p>
            <a:r>
              <a:rPr lang="he-IL" sz="2000" b="1" dirty="0" err="1">
                <a:ea typeface="+mn-lt"/>
                <a:cs typeface="+mn-lt"/>
              </a:rPr>
              <a:t>Customers</a:t>
            </a:r>
            <a:r>
              <a:rPr lang="he-IL" sz="2000" dirty="0">
                <a:ea typeface="+mn-lt"/>
                <a:cs typeface="+mn-lt"/>
              </a:rPr>
              <a:t> — ניתוח לקוחות (לפי עיר ועיסוק)</a:t>
            </a:r>
            <a:endParaRPr lang="he-IL" sz="2000" dirty="0">
              <a:cs typeface="Arial"/>
            </a:endParaRPr>
          </a:p>
          <a:p>
            <a:r>
              <a:rPr lang="he-IL" sz="2000" b="1" dirty="0" err="1">
                <a:ea typeface="+mn-lt"/>
                <a:cs typeface="+mn-lt"/>
              </a:rPr>
              <a:t>Loans</a:t>
            </a:r>
            <a:r>
              <a:rPr lang="he-IL" sz="2000" dirty="0">
                <a:ea typeface="+mn-lt"/>
                <a:cs typeface="+mn-lt"/>
              </a:rPr>
              <a:t> — ניתוח הלוואות (לפי סוג וריבית)</a:t>
            </a:r>
            <a:endParaRPr lang="he-IL" sz="2000" dirty="0">
              <a:cs typeface="Arial"/>
            </a:endParaRPr>
          </a:p>
          <a:p>
            <a:r>
              <a:rPr lang="he-IL" sz="2000" b="1" dirty="0" err="1">
                <a:ea typeface="+mn-lt"/>
                <a:cs typeface="+mn-lt"/>
              </a:rPr>
              <a:t>Support</a:t>
            </a:r>
            <a:r>
              <a:rPr lang="he-IL" sz="2000" dirty="0">
                <a:ea typeface="+mn-lt"/>
                <a:cs typeface="+mn-lt"/>
              </a:rPr>
              <a:t> — ניתוח פניות תמיכה (לפי סוג פנייה)</a:t>
            </a:r>
            <a:endParaRPr lang="he-IL" sz="2000" dirty="0">
              <a:cs typeface="Arial"/>
            </a:endParaRPr>
          </a:p>
          <a:p>
            <a:r>
              <a:rPr lang="he-IL" sz="2000" b="1" dirty="0" err="1">
                <a:ea typeface="+mn-lt"/>
                <a:cs typeface="+mn-lt"/>
              </a:rPr>
              <a:t>Branches</a:t>
            </a:r>
            <a:r>
              <a:rPr lang="he-IL" sz="2000" dirty="0">
                <a:ea typeface="+mn-lt"/>
                <a:cs typeface="+mn-lt"/>
              </a:rPr>
              <a:t> — ניתוח סניפים ועובדים</a:t>
            </a:r>
            <a:endParaRPr lang="he-IL" sz="2000" dirty="0">
              <a:cs typeface="Arial"/>
            </a:endParaRPr>
          </a:p>
          <a:p>
            <a:r>
              <a:rPr lang="he-IL" sz="2000" b="1" dirty="0" err="1">
                <a:ea typeface="+mn-lt"/>
                <a:cs typeface="+mn-lt"/>
              </a:rPr>
              <a:t>Customer</a:t>
            </a:r>
            <a:r>
              <a:rPr lang="he-IL" sz="2000" b="1" dirty="0">
                <a:ea typeface="+mn-lt"/>
                <a:cs typeface="+mn-lt"/>
              </a:rPr>
              <a:t> </a:t>
            </a:r>
            <a:r>
              <a:rPr lang="he-IL" sz="2000" b="1" dirty="0" err="1">
                <a:ea typeface="+mn-lt"/>
                <a:cs typeface="+mn-lt"/>
              </a:rPr>
              <a:t>Details</a:t>
            </a:r>
            <a:r>
              <a:rPr lang="he-IL" sz="2000" dirty="0">
                <a:ea typeface="+mn-lt"/>
                <a:cs typeface="+mn-lt"/>
              </a:rPr>
              <a:t> — מעבר מעמיק (</a:t>
            </a:r>
            <a:r>
              <a:rPr lang="he-IL" sz="2000" dirty="0" err="1">
                <a:ea typeface="+mn-lt"/>
                <a:cs typeface="+mn-lt"/>
              </a:rPr>
              <a:t>Drill-through</a:t>
            </a:r>
            <a:r>
              <a:rPr lang="he-IL" sz="2000" dirty="0">
                <a:ea typeface="+mn-lt"/>
                <a:cs typeface="+mn-lt"/>
              </a:rPr>
              <a:t>) לפרופיל לקוח</a:t>
            </a:r>
            <a:endParaRPr lang="he-IL" sz="2000" dirty="0">
              <a:cs typeface="Arial"/>
            </a:endParaRPr>
          </a:p>
          <a:p>
            <a:r>
              <a:rPr lang="he-IL" sz="2000" b="1" err="1">
                <a:ea typeface="+mn-lt"/>
                <a:cs typeface="+mn-lt"/>
              </a:rPr>
              <a:t>Tooltip</a:t>
            </a:r>
            <a:r>
              <a:rPr lang="he-IL" sz="2000" dirty="0">
                <a:ea typeface="+mn-lt"/>
                <a:cs typeface="+mn-lt"/>
              </a:rPr>
              <a:t> — תובנות מהירות במעבר עכבר (</a:t>
            </a:r>
            <a:r>
              <a:rPr lang="he-IL" sz="2000" err="1">
                <a:ea typeface="+mn-lt"/>
                <a:cs typeface="+mn-lt"/>
              </a:rPr>
              <a:t>Hover</a:t>
            </a:r>
            <a:r>
              <a:rPr lang="he-IL" sz="2000" dirty="0">
                <a:ea typeface="+mn-lt"/>
                <a:cs typeface="+mn-lt"/>
              </a:rPr>
              <a:t>)</a:t>
            </a:r>
            <a:endParaRPr lang="he-IL" sz="2000" dirty="0">
              <a:cs typeface="Arial"/>
            </a:endParaRPr>
          </a:p>
          <a:p>
            <a:endParaRPr lang="he-IL" sz="2000" dirty="0">
              <a:cs typeface="Arial"/>
            </a:endParaRP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28D15763-DC57-B78F-A996-E288446DA4B3}"/>
              </a:ext>
            </a:extLst>
          </p:cNvPr>
          <p:cNvSpPr txBox="1"/>
          <p:nvPr/>
        </p:nvSpPr>
        <p:spPr>
          <a:xfrm>
            <a:off x="4876801" y="203199"/>
            <a:ext cx="275589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e-IL" sz="3200" dirty="0" err="1">
                <a:latin typeface="Arial"/>
                <a:ea typeface="+mn-lt"/>
                <a:cs typeface="Arial"/>
              </a:rPr>
              <a:t>Power</a:t>
            </a:r>
            <a:r>
              <a:rPr lang="he-IL" sz="3200" dirty="0">
                <a:latin typeface="Arial"/>
                <a:ea typeface="+mn-lt"/>
                <a:cs typeface="Arial"/>
              </a:rPr>
              <a:t> </a:t>
            </a:r>
            <a:r>
              <a:rPr lang="he-IL" sz="3200" dirty="0" err="1">
                <a:latin typeface="Arial"/>
                <a:ea typeface="+mn-lt"/>
                <a:cs typeface="Arial"/>
              </a:rPr>
              <a:t>Bi</a:t>
            </a:r>
            <a:endParaRPr lang="he-IL" sz="3200" dirty="0">
              <a:latin typeface="Arial"/>
              <a:ea typeface="+mn-lt"/>
              <a:cs typeface="Arial"/>
            </a:endParaRPr>
          </a:p>
          <a:p>
            <a:pPr algn="ctr"/>
            <a:r>
              <a:rPr lang="he-IL" sz="3200" dirty="0">
                <a:latin typeface="Arial"/>
                <a:ea typeface="+mn-lt"/>
                <a:cs typeface="Arial"/>
              </a:rPr>
              <a:t>  7 דפים</a:t>
            </a:r>
            <a:endParaRPr lang="he-IL" sz="3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8179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416820-5C98-7BCD-77C9-3DB85E252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4730"/>
            <a:ext cx="10515600" cy="873678"/>
          </a:xfrm>
        </p:spPr>
        <p:txBody>
          <a:bodyPr vert="horz" lIns="91440" tIns="45720" rIns="91440" bIns="45720" rtlCol="1" anchor="ctr">
            <a:noAutofit/>
          </a:bodyPr>
          <a:lstStyle/>
          <a:p>
            <a:r>
              <a:rPr lang="he-IL" sz="1800" b="1" dirty="0" err="1">
                <a:solidFill>
                  <a:srgbClr val="1F1F1F"/>
                </a:solidFill>
                <a:ea typeface="+mj-lt"/>
                <a:cs typeface="+mj-lt"/>
              </a:rPr>
              <a:t>Python</a:t>
            </a:r>
            <a:r>
              <a:rPr lang="he-IL" sz="1800" dirty="0">
                <a:solidFill>
                  <a:srgbClr val="1F1F1F"/>
                </a:solidFill>
                <a:ea typeface="+mj-lt"/>
                <a:cs typeface="+mj-lt"/>
              </a:rPr>
              <a:t> היא שפת תכנות מרכזית לניתוח נתונים ו-</a:t>
            </a:r>
            <a:r>
              <a:rPr lang="he-IL" sz="1800" dirty="0" err="1">
                <a:solidFill>
                  <a:srgbClr val="1F1F1F"/>
                </a:solidFill>
                <a:ea typeface="+mj-lt"/>
                <a:cs typeface="+mj-lt"/>
              </a:rPr>
              <a:t>Machine</a:t>
            </a:r>
            <a:r>
              <a:rPr lang="he-IL" sz="1800" dirty="0">
                <a:solidFill>
                  <a:srgbClr val="1F1F1F"/>
                </a:solidFill>
                <a:ea typeface="+mj-lt"/>
                <a:cs typeface="+mj-lt"/>
              </a:rPr>
              <a:t> </a:t>
            </a:r>
            <a:r>
              <a:rPr lang="he-IL" sz="1800" dirty="0" err="1">
                <a:solidFill>
                  <a:srgbClr val="1F1F1F"/>
                </a:solidFill>
                <a:ea typeface="+mj-lt"/>
                <a:cs typeface="+mj-lt"/>
              </a:rPr>
              <a:t>Learning</a:t>
            </a:r>
            <a:r>
              <a:rPr lang="he-IL" sz="1800" dirty="0">
                <a:solidFill>
                  <a:srgbClr val="1F1F1F"/>
                </a:solidFill>
                <a:ea typeface="+mj-lt"/>
                <a:cs typeface="+mj-lt"/>
              </a:rPr>
              <a:t>. השתמשנו בה כדי לבנות מודל שמנבא אילו לקוחות עלולים לאחר בתשלום.</a:t>
            </a:r>
          </a:p>
          <a:p>
            <a:endParaRPr lang="he-IL" sz="1800" dirty="0">
              <a:cs typeface="Times New Roman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9C3B3B0-D661-5B77-1D8B-30B33F6902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1" anchor="t">
            <a:noAutofit/>
          </a:bodyPr>
          <a:lstStyle/>
          <a:p>
            <a:pPr marL="0" indent="0" algn="ctr">
              <a:buNone/>
            </a:pPr>
            <a:r>
              <a:rPr lang="he-IL" sz="2400" b="1" dirty="0">
                <a:cs typeface="Arial"/>
              </a:rPr>
              <a:t>מה עשינו:</a:t>
            </a:r>
            <a:endParaRPr lang="he-IL" sz="2400" dirty="0">
              <a:cs typeface="Arial"/>
            </a:endParaRPr>
          </a:p>
          <a:p>
            <a:pPr marL="0" indent="0">
              <a:buNone/>
            </a:pPr>
            <a:r>
              <a:rPr lang="he-IL" sz="2000" dirty="0">
                <a:cs typeface="Arial"/>
              </a:rPr>
              <a:t>חיבור 3 טבלאות (סה"כ 50,000 שורות)</a:t>
            </a:r>
          </a:p>
          <a:p>
            <a:pPr marL="0" indent="0">
              <a:buNone/>
            </a:pPr>
            <a:r>
              <a:rPr lang="he-IL" sz="2000" dirty="0">
                <a:cs typeface="Arial"/>
              </a:rPr>
              <a:t>בחירת 4 משתנים: </a:t>
            </a:r>
            <a:r>
              <a:rPr lang="af-ZA" sz="2000" dirty="0" err="1"/>
              <a:t>credit_score</a:t>
            </a:r>
            <a:r>
              <a:rPr lang="af-ZA" sz="2000" dirty="0"/>
              <a:t>, </a:t>
            </a:r>
            <a:r>
              <a:rPr lang="af-ZA" sz="2000" dirty="0" err="1"/>
              <a:t>income</a:t>
            </a:r>
            <a:r>
              <a:rPr lang="af-ZA" sz="2000" dirty="0"/>
              <a:t>, </a:t>
            </a:r>
            <a:r>
              <a:rPr lang="af-ZA" sz="2000" dirty="0" err="1"/>
              <a:t>loan_amount</a:t>
            </a:r>
            <a:r>
              <a:rPr lang="af-ZA" sz="2000" dirty="0"/>
              <a:t>, </a:t>
            </a:r>
            <a:r>
              <a:rPr lang="af-ZA" sz="2000" dirty="0" err="1"/>
              <a:t>interest_rate</a:t>
            </a:r>
            <a:endParaRPr lang="af-ZA" sz="2000" dirty="0"/>
          </a:p>
          <a:p>
            <a:pPr marL="0" indent="0">
              <a:buNone/>
            </a:pPr>
            <a:r>
              <a:rPr lang="he-IL" sz="2000" dirty="0">
                <a:cs typeface="Arial"/>
              </a:rPr>
              <a:t>חלוקת הנתונים: 80% אימון (</a:t>
            </a:r>
            <a:r>
              <a:rPr lang="af-ZA" sz="2000" dirty="0"/>
              <a:t>Train) </a:t>
            </a:r>
            <a:r>
              <a:rPr lang="he-IL" sz="2000" dirty="0">
                <a:cs typeface="Arial"/>
              </a:rPr>
              <a:t>ו-20% בדיקה (</a:t>
            </a:r>
            <a:r>
              <a:rPr lang="af-ZA" sz="2000" dirty="0" err="1"/>
              <a:t>Test</a:t>
            </a:r>
            <a:r>
              <a:rPr lang="af-ZA" sz="2000" dirty="0"/>
              <a:t>)</a:t>
            </a:r>
          </a:p>
          <a:p>
            <a:pPr marL="0" indent="0">
              <a:buNone/>
            </a:pPr>
            <a:r>
              <a:rPr lang="he-IL" sz="2000" dirty="0">
                <a:cs typeface="Arial"/>
              </a:rPr>
              <a:t>אימון מודל </a:t>
            </a:r>
            <a:r>
              <a:rPr lang="af-ZA" sz="2000" dirty="0"/>
              <a:t>Random </a:t>
            </a:r>
            <a:r>
              <a:rPr lang="af-ZA" sz="2000" dirty="0" err="1"/>
              <a:t>Forest</a:t>
            </a:r>
            <a:endParaRPr lang="af-ZA" sz="2000" dirty="0"/>
          </a:p>
          <a:p>
            <a:pPr marL="0" indent="0">
              <a:buNone/>
            </a:pPr>
            <a:r>
              <a:rPr lang="he-IL" sz="2000" dirty="0">
                <a:cs typeface="Arial"/>
              </a:rPr>
              <a:t>הערכת תוצאות המודל</a:t>
            </a:r>
          </a:p>
          <a:p>
            <a:pPr marL="0" indent="0">
              <a:buNone/>
            </a:pPr>
            <a:r>
              <a:rPr lang="he-IL" sz="2000" b="1" dirty="0">
                <a:cs typeface="Arial"/>
              </a:rPr>
              <a:t>המודל: </a:t>
            </a:r>
            <a:r>
              <a:rPr lang="af-ZA" sz="2000" b="1" dirty="0"/>
              <a:t>Random </a:t>
            </a:r>
            <a:r>
              <a:rPr lang="af-ZA" sz="2000" b="1" dirty="0" err="1"/>
              <a:t>Forest</a:t>
            </a:r>
            <a:r>
              <a:rPr lang="af-ZA" sz="2000" dirty="0"/>
              <a:t> </a:t>
            </a:r>
            <a:r>
              <a:rPr lang="he-IL" sz="2000" dirty="0">
                <a:cs typeface="Arial"/>
              </a:rPr>
              <a:t>שימוש ב-100 עצים שמצביעים יחד על התשובה הסבירה ביותר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CE453B3-A012-8A76-7818-358EAF5AA4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1" anchor="t">
            <a:normAutofit fontScale="85000" lnSpcReduction="10000"/>
          </a:bodyPr>
          <a:lstStyle/>
          <a:p>
            <a:pPr algn="ctr">
              <a:buNone/>
            </a:pPr>
            <a:r>
              <a:rPr lang="he-IL" sz="2400" dirty="0">
                <a:solidFill>
                  <a:srgbClr val="1F1F1F"/>
                </a:solidFill>
                <a:ea typeface="+mn-lt"/>
                <a:cs typeface="+mn-lt"/>
              </a:rPr>
              <a:t>הספריות בהן השתמשנו:</a:t>
            </a:r>
            <a:endParaRPr lang="he-IL" sz="2400" dirty="0">
              <a:cs typeface="Arial"/>
            </a:endParaRPr>
          </a:p>
          <a:p>
            <a:pPr algn="l">
              <a:buNone/>
            </a:pPr>
            <a:r>
              <a:rPr lang="he-IL" sz="2000" b="1" dirty="0" err="1">
                <a:solidFill>
                  <a:srgbClr val="1F1F1F"/>
                </a:solidFill>
                <a:ea typeface="+mn-lt"/>
                <a:cs typeface="+mn-lt"/>
              </a:rPr>
              <a:t>pandas</a:t>
            </a:r>
            <a:r>
              <a:rPr lang="he-IL" sz="2000" dirty="0">
                <a:solidFill>
                  <a:srgbClr val="1F1F1F"/>
                </a:solidFill>
                <a:ea typeface="+mn-lt"/>
                <a:cs typeface="+mn-lt"/>
              </a:rPr>
              <a:t>: לניתוח נתונים ועיבוד טבלאות</a:t>
            </a:r>
            <a:endParaRPr lang="he-IL" sz="2000">
              <a:cs typeface="Arial"/>
            </a:endParaRPr>
          </a:p>
          <a:p>
            <a:pPr algn="l">
              <a:buNone/>
            </a:pPr>
            <a:r>
              <a:rPr lang="he-IL" sz="2000" b="1" dirty="0" err="1">
                <a:solidFill>
                  <a:srgbClr val="1F1F1F"/>
                </a:solidFill>
                <a:ea typeface="+mn-lt"/>
                <a:cs typeface="+mn-lt"/>
              </a:rPr>
              <a:t>plotly</a:t>
            </a:r>
            <a:r>
              <a:rPr lang="he-IL" sz="2000" dirty="0">
                <a:solidFill>
                  <a:srgbClr val="1F1F1F"/>
                </a:solidFill>
                <a:ea typeface="+mn-lt"/>
                <a:cs typeface="+mn-lt"/>
              </a:rPr>
              <a:t>: לגרפים וויזואליזציה אינטראקטיבית</a:t>
            </a:r>
            <a:endParaRPr lang="he-IL" sz="2000">
              <a:cs typeface="Arial"/>
            </a:endParaRPr>
          </a:p>
          <a:p>
            <a:pPr algn="l">
              <a:buNone/>
            </a:pPr>
            <a:r>
              <a:rPr lang="he-IL" sz="2000" b="1" dirty="0" err="1">
                <a:solidFill>
                  <a:srgbClr val="1F1F1F"/>
                </a:solidFill>
                <a:ea typeface="+mn-lt"/>
                <a:cs typeface="+mn-lt"/>
              </a:rPr>
              <a:t>scikit-learn</a:t>
            </a:r>
            <a:r>
              <a:rPr lang="he-IL" sz="2000" dirty="0">
                <a:solidFill>
                  <a:srgbClr val="1F1F1F"/>
                </a:solidFill>
                <a:ea typeface="+mn-lt"/>
                <a:cs typeface="+mn-lt"/>
              </a:rPr>
              <a:t>: לבניית מודלי </a:t>
            </a:r>
            <a:r>
              <a:rPr lang="he-IL" sz="2000" dirty="0" err="1">
                <a:solidFill>
                  <a:srgbClr val="1F1F1F"/>
                </a:solidFill>
                <a:ea typeface="+mn-lt"/>
                <a:cs typeface="+mn-lt"/>
              </a:rPr>
              <a:t>Machine</a:t>
            </a:r>
            <a:r>
              <a:rPr lang="he-IL" sz="2000" dirty="0">
                <a:solidFill>
                  <a:srgbClr val="1F1F1F"/>
                </a:solidFill>
                <a:ea typeface="+mn-lt"/>
                <a:cs typeface="+mn-lt"/>
              </a:rPr>
              <a:t> </a:t>
            </a:r>
            <a:r>
              <a:rPr lang="he-IL" sz="2000" dirty="0" err="1">
                <a:solidFill>
                  <a:srgbClr val="1F1F1F"/>
                </a:solidFill>
                <a:ea typeface="+mn-lt"/>
                <a:cs typeface="+mn-lt"/>
              </a:rPr>
              <a:t>Learning</a:t>
            </a:r>
            <a:endParaRPr lang="he-IL" sz="2000">
              <a:cs typeface="Arial"/>
            </a:endParaRPr>
          </a:p>
          <a:p>
            <a:pPr marL="0" indent="0" algn="l" rtl="1">
              <a:buNone/>
            </a:pPr>
            <a:endParaRPr lang="he-IL" sz="2000" b="1" dirty="0">
              <a:solidFill>
                <a:srgbClr val="1F1F1F"/>
              </a:solidFill>
              <a:latin typeface="Google Sans Text"/>
              <a:ea typeface="Google Sans Text"/>
              <a:cs typeface="Google Sans Text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72770933-D134-747F-85D6-20010F996B64}"/>
              </a:ext>
            </a:extLst>
          </p:cNvPr>
          <p:cNvSpPr txBox="1"/>
          <p:nvPr/>
        </p:nvSpPr>
        <p:spPr>
          <a:xfrm>
            <a:off x="4111847" y="279400"/>
            <a:ext cx="481005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e-IL" sz="2400" dirty="0" err="1">
                <a:latin typeface="Arial"/>
                <a:ea typeface="+mn-lt"/>
                <a:cs typeface="Arial"/>
              </a:rPr>
              <a:t>Python</a:t>
            </a:r>
            <a:r>
              <a:rPr lang="he-IL" sz="2400" dirty="0">
                <a:latin typeface="Arial"/>
                <a:ea typeface="+mn-lt"/>
                <a:cs typeface="Arial"/>
              </a:rPr>
              <a:t> — </a:t>
            </a:r>
            <a:r>
              <a:rPr lang="he-IL" sz="2400" dirty="0" err="1">
                <a:latin typeface="Arial"/>
                <a:ea typeface="+mn-lt"/>
                <a:cs typeface="Arial"/>
              </a:rPr>
              <a:t>Machine</a:t>
            </a:r>
            <a:r>
              <a:rPr lang="he-IL" sz="2400" dirty="0">
                <a:latin typeface="Arial"/>
                <a:ea typeface="+mn-lt"/>
                <a:cs typeface="Arial"/>
              </a:rPr>
              <a:t> </a:t>
            </a:r>
            <a:r>
              <a:rPr lang="he-IL" sz="2400" dirty="0" err="1">
                <a:latin typeface="Arial"/>
                <a:ea typeface="+mn-lt"/>
                <a:cs typeface="Arial"/>
              </a:rPr>
              <a:t>Learning</a:t>
            </a:r>
            <a:endParaRPr lang="he-IL" sz="2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3675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2DADAB-9AC2-A484-AE6D-55AE1F39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4308"/>
          </a:xfrm>
        </p:spPr>
        <p:txBody>
          <a:bodyPr/>
          <a:lstStyle/>
          <a:p>
            <a:pPr algn="ctr"/>
            <a:r>
              <a:rPr lang="he-IL" dirty="0">
                <a:cs typeface="Times New Roman"/>
              </a:rPr>
              <a:t>תוצאות המודל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056C056-338B-E626-6C46-4F4425525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184"/>
            <a:ext cx="10515600" cy="4767779"/>
          </a:xfrm>
        </p:spPr>
        <p:txBody>
          <a:bodyPr vert="horz" lIns="91440" tIns="45720" rIns="91440" bIns="45720" rtlCol="1" anchor="t">
            <a:noAutofit/>
          </a:bodyPr>
          <a:lstStyle/>
          <a:p>
            <a:pPr marL="0" indent="0" algn="ctr">
              <a:buNone/>
            </a:pPr>
            <a:r>
              <a:rPr lang="he-IL" sz="1800" b="1" u="sng" dirty="0">
                <a:cs typeface="Arial"/>
              </a:rPr>
              <a:t>המודל השיג תוצאות מעורבות</a:t>
            </a:r>
            <a:endParaRPr lang="he-IL" sz="1800" u="sng">
              <a:cs typeface="Arial"/>
            </a:endParaRPr>
          </a:p>
          <a:p>
            <a:pPr marL="0" indent="0">
              <a:buNone/>
            </a:pPr>
            <a:r>
              <a:rPr lang="af-ZA" sz="1600" b="1" dirty="0" err="1"/>
              <a:t>Accuracy</a:t>
            </a:r>
            <a:r>
              <a:rPr lang="af-ZA" sz="1600" dirty="0"/>
              <a:t>: 73.8%</a:t>
            </a:r>
          </a:p>
          <a:p>
            <a:pPr marL="0" indent="0">
              <a:buNone/>
            </a:pPr>
            <a:r>
              <a:rPr lang="af-ZA" sz="1600" b="1" dirty="0" err="1"/>
              <a:t>Recall</a:t>
            </a:r>
            <a:r>
              <a:rPr lang="af-ZA" sz="1600" b="1" dirty="0"/>
              <a:t> (</a:t>
            </a:r>
            <a:r>
              <a:rPr lang="he-IL" sz="1600" b="1" dirty="0">
                <a:cs typeface="Arial"/>
              </a:rPr>
              <a:t>מאחרים)</a:t>
            </a:r>
            <a:r>
              <a:rPr lang="he-IL" sz="1600" dirty="0">
                <a:cs typeface="Arial"/>
              </a:rPr>
              <a:t>: 21%</a:t>
            </a:r>
          </a:p>
          <a:p>
            <a:pPr marL="0" indent="0">
              <a:buNone/>
            </a:pPr>
            <a:r>
              <a:rPr lang="af-ZA" sz="1600" b="1" dirty="0" err="1"/>
              <a:t>Precision</a:t>
            </a:r>
            <a:r>
              <a:rPr lang="af-ZA" sz="1600" b="1" dirty="0"/>
              <a:t> (</a:t>
            </a:r>
            <a:r>
              <a:rPr lang="he-IL" sz="1600" b="1" dirty="0">
                <a:cs typeface="Arial"/>
              </a:rPr>
              <a:t>מאחרים)</a:t>
            </a:r>
            <a:r>
              <a:rPr lang="he-IL" sz="1600" dirty="0">
                <a:cs typeface="Arial"/>
              </a:rPr>
              <a:t>: 13%</a:t>
            </a:r>
          </a:p>
          <a:p>
            <a:pPr marL="0" indent="0" algn="ctr">
              <a:buNone/>
            </a:pPr>
            <a:r>
              <a:rPr lang="he-IL" sz="1800" b="1" u="sng" dirty="0">
                <a:latin typeface="Arial"/>
                <a:cs typeface="Arial"/>
              </a:rPr>
              <a:t>מה זה אומר</a:t>
            </a:r>
          </a:p>
          <a:p>
            <a:pPr marL="0" indent="0">
              <a:buNone/>
            </a:pPr>
            <a:r>
              <a:rPr lang="he-IL" sz="1600" dirty="0">
                <a:cs typeface="Arial"/>
              </a:rPr>
              <a:t>המודל מזהה רק 22% מהלקוחות המאחרים</a:t>
            </a:r>
          </a:p>
          <a:p>
            <a:pPr marL="0" indent="0">
              <a:buNone/>
            </a:pPr>
            <a:r>
              <a:rPr lang="he-IL" sz="1600" dirty="0">
                <a:cs typeface="Arial"/>
              </a:rPr>
              <a:t>78% מהלקוחות המאחרים אינם מזוהים</a:t>
            </a:r>
          </a:p>
          <a:p>
            <a:pPr marL="0" indent="0" algn="ctr">
              <a:buNone/>
            </a:pPr>
            <a:r>
              <a:rPr lang="he-IL" sz="1800" b="1" u="sng" dirty="0">
                <a:cs typeface="Arial"/>
              </a:rPr>
              <a:t>למה זה קרה</a:t>
            </a:r>
          </a:p>
          <a:p>
            <a:pPr marL="0" indent="0">
              <a:buNone/>
            </a:pPr>
            <a:r>
              <a:rPr lang="he-IL" sz="1600" dirty="0">
                <a:cs typeface="Arial"/>
              </a:rPr>
              <a:t>הנתונים אינם מאוזנים: 88% משלמים בזמן, ורק 12% מאחרים</a:t>
            </a:r>
          </a:p>
          <a:p>
            <a:pPr marL="0" indent="0">
              <a:buNone/>
            </a:pPr>
            <a:r>
              <a:rPr lang="he-IL" sz="1600" dirty="0">
                <a:cs typeface="Arial"/>
              </a:rPr>
              <a:t>המודל מעדיף לנחש "בזמן" מכיוון שזה נכון ברוב המקרים</a:t>
            </a:r>
          </a:p>
          <a:p>
            <a:pPr marL="0" indent="0" algn="ctr">
              <a:buNone/>
            </a:pPr>
            <a:r>
              <a:rPr lang="he-IL" sz="1800" b="1" u="sng" dirty="0">
                <a:cs typeface="Arial"/>
              </a:rPr>
              <a:t>מסקנה</a:t>
            </a:r>
          </a:p>
          <a:p>
            <a:pPr marL="0" indent="0">
              <a:buNone/>
            </a:pPr>
            <a:r>
              <a:rPr lang="he-IL" sz="1600" dirty="0">
                <a:cs typeface="Arial"/>
              </a:rPr>
              <a:t>הנתונים סינתטיים ולכן אין בהם דפוסים אמיתיים</a:t>
            </a:r>
          </a:p>
          <a:p>
            <a:pPr marL="0" indent="0">
              <a:buNone/>
            </a:pPr>
            <a:r>
              <a:rPr lang="he-IL" sz="1600" dirty="0">
                <a:cs typeface="Arial"/>
              </a:rPr>
              <a:t>בנתונים אמת מציאותיים המודל היה מגיע ל-</a:t>
            </a:r>
            <a:r>
              <a:rPr lang="af-ZA" sz="1600" err="1"/>
              <a:t>Recall</a:t>
            </a:r>
            <a:r>
              <a:rPr lang="af-ZA" sz="1600" dirty="0"/>
              <a:t> </a:t>
            </a:r>
            <a:r>
              <a:rPr lang="he-IL" sz="1600" dirty="0">
                <a:cs typeface="Arial"/>
              </a:rPr>
              <a:t>של 50%+</a:t>
            </a:r>
          </a:p>
          <a:p>
            <a:pPr marL="0" indent="0">
              <a:buNone/>
            </a:pPr>
            <a:endParaRPr lang="he-IL" sz="1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277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6F06AFF-E251-4553-9BAA-AC2F9DE85B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1" anchor="t">
            <a:normAutofit/>
          </a:bodyPr>
          <a:lstStyle/>
          <a:p>
            <a:pPr marL="0" indent="0" algn="ctr">
              <a:buNone/>
            </a:pPr>
            <a:r>
              <a:rPr lang="he-IL" sz="2400" b="1" dirty="0">
                <a:cs typeface="Arial"/>
              </a:rPr>
              <a:t>מה שמפתיע</a:t>
            </a:r>
            <a:endParaRPr lang="he-IL"/>
          </a:p>
          <a:p>
            <a:pPr marL="0" indent="0">
              <a:buNone/>
            </a:pPr>
            <a:r>
              <a:rPr lang="af-ZA" sz="2400" b="1" dirty="0" err="1"/>
              <a:t>credit_score</a:t>
            </a:r>
            <a:r>
              <a:rPr lang="af-ZA" sz="2400" dirty="0"/>
              <a:t>: </a:t>
            </a:r>
            <a:r>
              <a:rPr lang="he-IL" sz="2400" dirty="0">
                <a:cs typeface="Arial"/>
              </a:rPr>
              <a:t>מהווה 9% בלבד מהשפעת החיזוי.</a:t>
            </a:r>
          </a:p>
          <a:p>
            <a:pPr marL="0" indent="0">
              <a:buNone/>
            </a:pPr>
            <a:r>
              <a:rPr lang="he-IL" sz="2400" dirty="0">
                <a:cs typeface="Arial"/>
              </a:rPr>
              <a:t>בבנק אמיתי: המשקל היה עומד על 30% עד 40%.</a:t>
            </a:r>
          </a:p>
          <a:p>
            <a:pPr marL="0" indent="0" algn="ctr">
              <a:buNone/>
            </a:pPr>
            <a:r>
              <a:rPr lang="he-IL" sz="2400" b="1" dirty="0">
                <a:cs typeface="Arial"/>
              </a:rPr>
              <a:t>מסקנה</a:t>
            </a:r>
          </a:p>
          <a:p>
            <a:pPr marL="0" indent="0">
              <a:buNone/>
            </a:pPr>
            <a:r>
              <a:rPr lang="he-IL" sz="2400" dirty="0">
                <a:cs typeface="Arial"/>
              </a:rPr>
              <a:t>הנתונים סינתטיים ולכן אינם משקפים התנהגות אמת.</a:t>
            </a:r>
          </a:p>
          <a:p>
            <a:pPr marL="0" indent="0">
              <a:buNone/>
            </a:pPr>
            <a:r>
              <a:rPr lang="he-IL" sz="2400" dirty="0">
                <a:cs typeface="Arial"/>
              </a:rPr>
              <a:t>בפועל, המודל כרגע מתמקד ב-</a:t>
            </a:r>
            <a:r>
              <a:rPr lang="af-ZA" sz="2400" dirty="0" err="1"/>
              <a:t>loan_amount</a:t>
            </a:r>
            <a:r>
              <a:rPr lang="af-ZA" sz="2400" dirty="0"/>
              <a:t> </a:t>
            </a:r>
            <a:r>
              <a:rPr lang="he-IL" sz="2400" dirty="0">
                <a:cs typeface="Arial"/>
              </a:rPr>
              <a:t>וב-</a:t>
            </a:r>
            <a:r>
              <a:rPr lang="af-ZA" sz="2400" dirty="0" err="1"/>
              <a:t>interest_rate</a:t>
            </a:r>
            <a:r>
              <a:rPr lang="af-ZA" sz="2400" dirty="0"/>
              <a:t>.</a:t>
            </a:r>
            <a:endParaRPr lang="he-IL" sz="2400" dirty="0">
              <a:cs typeface="Arial"/>
            </a:endParaRP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20687B7-59EF-5A1F-1BBD-3DC8801917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1" anchor="t">
            <a:noAutofit/>
          </a:bodyPr>
          <a:lstStyle/>
          <a:p>
            <a:pPr marL="0" indent="0" algn="ctr">
              <a:buNone/>
            </a:pPr>
            <a:r>
              <a:rPr lang="he-IL" sz="2200" b="1" dirty="0">
                <a:cs typeface="Arial"/>
              </a:rPr>
              <a:t>שני משתנים מרכזיים</a:t>
            </a:r>
            <a:endParaRPr lang="he-IL"/>
          </a:p>
          <a:p>
            <a:pPr marL="0" indent="0">
              <a:buNone/>
            </a:pPr>
            <a:r>
              <a:rPr lang="af-ZA" sz="2200" b="1" dirty="0" err="1"/>
              <a:t>loan_amount</a:t>
            </a:r>
            <a:r>
              <a:rPr lang="af-ZA" sz="2200" dirty="0"/>
              <a:t>: </a:t>
            </a:r>
            <a:r>
              <a:rPr lang="he-IL" sz="2200" dirty="0">
                <a:cs typeface="Arial"/>
              </a:rPr>
              <a:t>כ-46%</a:t>
            </a:r>
          </a:p>
          <a:p>
            <a:pPr marL="0" indent="0">
              <a:buNone/>
            </a:pPr>
            <a:r>
              <a:rPr lang="af-ZA" sz="2200" b="1" dirty="0" err="1"/>
              <a:t>interest_rate</a:t>
            </a:r>
            <a:r>
              <a:rPr lang="af-ZA" sz="2200" dirty="0"/>
              <a:t>: </a:t>
            </a:r>
            <a:r>
              <a:rPr lang="he-IL" sz="2200" dirty="0">
                <a:cs typeface="Arial"/>
              </a:rPr>
              <a:t>כ-36%</a:t>
            </a:r>
          </a:p>
          <a:p>
            <a:pPr marL="0" indent="0">
              <a:buNone/>
            </a:pPr>
            <a:r>
              <a:rPr lang="he-IL" sz="2200" b="1" dirty="0">
                <a:cs typeface="Arial"/>
              </a:rPr>
              <a:t>שני משתנים משניים</a:t>
            </a:r>
          </a:p>
          <a:p>
            <a:pPr marL="0" indent="0">
              <a:buNone/>
            </a:pPr>
            <a:r>
              <a:rPr lang="af-ZA" sz="2200" b="1" dirty="0" err="1"/>
              <a:t>annual_income</a:t>
            </a:r>
            <a:r>
              <a:rPr lang="af-ZA" sz="2200" dirty="0"/>
              <a:t>: </a:t>
            </a:r>
            <a:r>
              <a:rPr lang="he-IL" sz="2200" dirty="0">
                <a:cs typeface="Arial"/>
              </a:rPr>
              <a:t>כ-10%</a:t>
            </a:r>
          </a:p>
          <a:p>
            <a:pPr marL="0" indent="0">
              <a:buNone/>
            </a:pPr>
            <a:r>
              <a:rPr lang="af-ZA" sz="2200" b="1" dirty="0" err="1"/>
              <a:t>credit_score</a:t>
            </a:r>
            <a:r>
              <a:rPr lang="af-ZA" sz="2200" dirty="0"/>
              <a:t>: </a:t>
            </a:r>
            <a:r>
              <a:rPr lang="he-IL" sz="2200" dirty="0">
                <a:cs typeface="Arial"/>
              </a:rPr>
              <a:t>כ-9%</a:t>
            </a:r>
          </a:p>
          <a:p>
            <a:pPr marL="0" indent="0" algn="ctr">
              <a:buNone/>
            </a:pPr>
            <a:r>
              <a:rPr lang="he-IL" sz="2200" b="1" dirty="0">
                <a:cs typeface="Arial"/>
              </a:rPr>
              <a:t>המשמעות</a:t>
            </a:r>
          </a:p>
          <a:p>
            <a:pPr marL="0" indent="0">
              <a:buNone/>
            </a:pPr>
            <a:r>
              <a:rPr lang="he-IL" sz="2200" dirty="0">
                <a:cs typeface="Arial"/>
              </a:rPr>
              <a:t>שני משתנים בלבד אחראים על 82% מהחיזוי</a:t>
            </a:r>
          </a:p>
          <a:p>
            <a:pPr marL="0" indent="0">
              <a:buNone/>
            </a:pPr>
            <a:r>
              <a:rPr lang="he-IL" sz="2200" dirty="0">
                <a:cs typeface="Arial"/>
              </a:rPr>
              <a:t>גודל ההלוואה ושיעור הריבית הם הגורמים הקובעים העיקריים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53E04B6-C48B-5792-35F4-3A8FB6570B10}"/>
              </a:ext>
            </a:extLst>
          </p:cNvPr>
          <p:cNvSpPr txBox="1"/>
          <p:nvPr/>
        </p:nvSpPr>
        <p:spPr>
          <a:xfrm>
            <a:off x="4887137" y="128772"/>
            <a:ext cx="386434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e-IL" sz="3200" dirty="0" err="1">
                <a:ea typeface="+mn-lt"/>
                <a:cs typeface="+mn-lt"/>
              </a:rPr>
              <a:t>Feature</a:t>
            </a:r>
            <a:r>
              <a:rPr lang="he-IL" sz="3200" dirty="0">
                <a:ea typeface="+mn-lt"/>
                <a:cs typeface="+mn-lt"/>
              </a:rPr>
              <a:t> </a:t>
            </a:r>
            <a:r>
              <a:rPr lang="he-IL" sz="3200" dirty="0" err="1">
                <a:ea typeface="+mn-lt"/>
                <a:cs typeface="+mn-lt"/>
              </a:rPr>
              <a:t>Importance</a:t>
            </a:r>
            <a:endParaRPr lang="he-IL" sz="3200" dirty="0" err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5547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8A41B79-B18A-1F7E-C9CF-21B524B27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377"/>
          </a:xfrm>
        </p:spPr>
        <p:txBody>
          <a:bodyPr/>
          <a:lstStyle/>
          <a:p>
            <a:pPr algn="ctr"/>
            <a:r>
              <a:rPr lang="he-IL" dirty="0">
                <a:cs typeface="Times New Roman"/>
              </a:rPr>
              <a:t>תובנות עסקיות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A5A4BF1-1810-C258-38F5-79E8EE47D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62"/>
            <a:ext cx="10515600" cy="4785501"/>
          </a:xfrm>
        </p:spPr>
        <p:txBody>
          <a:bodyPr vert="horz" lIns="91440" tIns="45720" rIns="91440" bIns="45720" rtlCol="1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he-IL" b="1" dirty="0">
                <a:latin typeface="Arial"/>
                <a:cs typeface="Arial"/>
              </a:rPr>
              <a:t>מהניתוח גילינו מספר תובנות מרכזיות:</a:t>
            </a:r>
            <a:endParaRPr lang="he-IL" dirty="0">
              <a:latin typeface="Arial"/>
              <a:cs typeface="Arial"/>
            </a:endParaRPr>
          </a:p>
          <a:p>
            <a:pPr marL="0" indent="0" algn="ctr">
              <a:buNone/>
            </a:pPr>
            <a:endParaRPr lang="he-IL" b="1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he-IL" sz="2400" b="1" dirty="0">
                <a:cs typeface="Arial"/>
              </a:rPr>
              <a:t>אין קשר בין הכנסה לגודל ההלוואה</a:t>
            </a:r>
            <a:r>
              <a:rPr lang="he-IL" sz="2400" dirty="0">
                <a:cs typeface="Arial"/>
              </a:rPr>
              <a:t> הבנק מעניק הלוואות בסכומים דומים לכלל הלקוחות.</a:t>
            </a:r>
          </a:p>
          <a:p>
            <a:pPr marL="0" indent="0">
              <a:buNone/>
            </a:pPr>
            <a:endParaRPr lang="he-IL" sz="2400" dirty="0">
              <a:cs typeface="Arial"/>
            </a:endParaRPr>
          </a:p>
          <a:p>
            <a:pPr marL="0" indent="0">
              <a:buNone/>
            </a:pPr>
            <a:r>
              <a:rPr lang="he-IL" sz="2400" b="1" dirty="0">
                <a:cs typeface="Arial"/>
              </a:rPr>
              <a:t>הריבית זהה לכל הלקוחות</a:t>
            </a:r>
            <a:r>
              <a:rPr lang="he-IL" sz="2400" dirty="0">
                <a:cs typeface="Arial"/>
              </a:rPr>
              <a:t> לא מבוצע תמחור מותאם לפי רמת הסיכון של הלקוח.</a:t>
            </a:r>
          </a:p>
          <a:p>
            <a:pPr marL="0" indent="0">
              <a:buNone/>
            </a:pPr>
            <a:endParaRPr lang="he-IL" sz="2400" dirty="0">
              <a:cs typeface="Arial"/>
            </a:endParaRPr>
          </a:p>
          <a:p>
            <a:pPr marL="0" indent="0">
              <a:buNone/>
            </a:pPr>
            <a:r>
              <a:rPr lang="he-IL" sz="2400" b="1" dirty="0">
                <a:cs typeface="Arial"/>
              </a:rPr>
              <a:t>זמן פתרון הפניות אינו משפיע על שביעות הרצון</a:t>
            </a:r>
            <a:r>
              <a:rPr lang="he-IL" sz="2400" dirty="0">
                <a:cs typeface="Arial"/>
              </a:rPr>
              <a:t> ציון שביעות הרצון נשאר זהה בכל קבוצות הלקוחות.</a:t>
            </a:r>
          </a:p>
          <a:p>
            <a:pPr marL="0" indent="0">
              <a:buNone/>
            </a:pPr>
            <a:endParaRPr lang="he-IL" sz="2400" dirty="0">
              <a:cs typeface="Arial"/>
            </a:endParaRPr>
          </a:p>
          <a:p>
            <a:pPr marL="0" indent="0">
              <a:buNone/>
            </a:pPr>
            <a:r>
              <a:rPr lang="he-IL" sz="2400" b="1" dirty="0">
                <a:cs typeface="Arial"/>
              </a:rPr>
              <a:t>2,986 לקוחות (6.27%) מוגדרים בסיכון</a:t>
            </a:r>
            <a:r>
              <a:rPr lang="he-IL" sz="2400" dirty="0">
                <a:cs typeface="Arial"/>
              </a:rPr>
              <a:t> מומלץ שלא לאשר לקבוצה זו הלוואה נוספת.</a:t>
            </a:r>
          </a:p>
          <a:p>
            <a:pPr marL="0" indent="0">
              <a:buNone/>
            </a:pPr>
            <a:endParaRPr lang="he-IL" sz="2400" dirty="0">
              <a:cs typeface="Arial"/>
            </a:endParaRPr>
          </a:p>
          <a:p>
            <a:pPr marL="0" indent="0">
              <a:buNone/>
            </a:pPr>
            <a:r>
              <a:rPr lang="he-IL" sz="2400" b="1" dirty="0">
                <a:cs typeface="Arial"/>
              </a:rPr>
              <a:t>הנתונים סינתטיים</a:t>
            </a:r>
            <a:r>
              <a:rPr lang="he-IL" sz="2400" dirty="0">
                <a:cs typeface="Arial"/>
              </a:rPr>
              <a:t> לא קיימים דפוסים התנהגותיים אמיתיים בנתונים.</a:t>
            </a:r>
          </a:p>
          <a:p>
            <a:pPr marL="0" indent="0">
              <a:buNone/>
            </a:pPr>
            <a:endParaRPr lang="he-IL" sz="2400" dirty="0">
              <a:cs typeface="Arial"/>
            </a:endParaRPr>
          </a:p>
          <a:p>
            <a:pPr marL="0" indent="0">
              <a:buNone/>
            </a:pPr>
            <a:r>
              <a:rPr lang="he-IL" sz="2400" b="1" dirty="0">
                <a:cs typeface="Arial"/>
              </a:rPr>
              <a:t>ההזדמנות הגדולה</a:t>
            </a:r>
            <a:r>
              <a:rPr lang="he-IL" sz="2400" dirty="0">
                <a:cs typeface="Arial"/>
              </a:rPr>
              <a:t> מעבר לתמחור דיפרנציאלי לפי סיכון עשוי להגדיל באופן משמעותי את רווחיות הבנק.</a:t>
            </a:r>
          </a:p>
        </p:txBody>
      </p:sp>
    </p:spTree>
    <p:extLst>
      <p:ext uri="{BB962C8B-B14F-4D97-AF65-F5344CB8AC3E}">
        <p14:creationId xmlns:p14="http://schemas.microsoft.com/office/powerpoint/2010/main" val="151468050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מסך רחב</PresentationFormat>
  <Paragraphs>0</Paragraphs>
  <Slides>10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1" baseType="lpstr">
      <vt:lpstr>ערכת נושא Office</vt:lpstr>
      <vt:lpstr>פרוייקט ניתוח  נתונים בנקאיים</vt:lpstr>
      <vt:lpstr>מבוא</vt:lpstr>
      <vt:lpstr>הדאטהסט</vt:lpstr>
      <vt:lpstr>Sql היא שפת שאילתות שמאפשרת לשלוף, לסנן ולחבר נתונים. השתמשנו ב-SQL כדי לנתח את 8 הטבלאות הבנקאיות ולענות על 5 שאלות מחקר:</vt:lpstr>
      <vt:lpstr>Excel  12 גיליונות</vt:lpstr>
      <vt:lpstr>Power BI היא תוכנה של מיקרוסופט לבניית דשבורדים אינטראקטיביים. השתמשנו בה כדי לבנות דוח ויזואלי שמאפשר חקירה חיה של הנתונים.</vt:lpstr>
      <vt:lpstr>Python היא שפת תכנות מרכזית לניתוח נתונים ו-Machine Learning. השתמשנו בה כדי לבנות מודל שמנבא אילו לקוחות עלולים לאחר בתשלום. </vt:lpstr>
      <vt:lpstr>תוצאות המודל</vt:lpstr>
      <vt:lpstr>מצגת של PowerPoint‏</vt:lpstr>
      <vt:lpstr>תובנות עסקיות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433</cp:revision>
  <dcterms:created xsi:type="dcterms:W3CDTF">2026-09-22T18:01:53Z</dcterms:created>
  <dcterms:modified xsi:type="dcterms:W3CDTF">2026-09-22T21:15:36Z</dcterms:modified>
</cp:coreProperties>
</file>